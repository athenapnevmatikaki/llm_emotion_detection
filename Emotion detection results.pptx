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4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5C8097-ACF9-43DC-AADC-E47239D6A93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52BB2E76-43B4-4DF3-BB55-D35832D9CAAF}">
      <dgm:prSet custT="1"/>
      <dgm:spPr/>
      <dgm:t>
        <a:bodyPr/>
        <a:lstStyle/>
        <a:p>
          <a:r>
            <a:rPr lang="en-US" sz="1600" dirty="0"/>
            <a:t>Reason</a:t>
          </a:r>
          <a:endParaRPr lang="en-GB" sz="1200" dirty="0"/>
        </a:p>
      </dgm:t>
    </dgm:pt>
    <dgm:pt modelId="{EBBFB807-56FB-4284-B274-F6748BF41930}" type="parTrans" cxnId="{07367C21-3DED-4D12-BAE2-DB0D90999B4A}">
      <dgm:prSet/>
      <dgm:spPr/>
      <dgm:t>
        <a:bodyPr/>
        <a:lstStyle/>
        <a:p>
          <a:endParaRPr lang="en-GB"/>
        </a:p>
      </dgm:t>
    </dgm:pt>
    <dgm:pt modelId="{B850F6AC-E4DA-4C08-818E-ADF8C4E7A482}" type="sibTrans" cxnId="{07367C21-3DED-4D12-BAE2-DB0D90999B4A}">
      <dgm:prSet/>
      <dgm:spPr/>
      <dgm:t>
        <a:bodyPr/>
        <a:lstStyle/>
        <a:p>
          <a:endParaRPr lang="en-GB"/>
        </a:p>
      </dgm:t>
    </dgm:pt>
    <dgm:pt modelId="{C88513B1-DE61-445E-9CA4-4C66F5DD331C}">
      <dgm:prSet/>
      <dgm:spPr/>
      <dgm:t>
        <a:bodyPr/>
        <a:lstStyle/>
        <a:p>
          <a:r>
            <a:rPr lang="en-GB" dirty="0"/>
            <a:t>Return the most evident emotion in the given sentences. Reply only with one emotion from this list:</a:t>
          </a:r>
          <a:br>
            <a:rPr lang="en-GB" dirty="0"/>
          </a:br>
          <a:r>
            <a:rPr lang="en-GB" dirty="0"/>
            <a:t>sadness, enthusiasm, neutral, worry, surprise, love, fun, hate, happiness, boredom, relief, and anger.</a:t>
          </a:r>
        </a:p>
      </dgm:t>
    </dgm:pt>
    <dgm:pt modelId="{7ABC6928-31AF-42E5-B627-022652AF2ED3}" type="parTrans" cxnId="{DCC303F8-4C2B-498D-9C53-CA50DBFFAA0A}">
      <dgm:prSet/>
      <dgm:spPr/>
      <dgm:t>
        <a:bodyPr/>
        <a:lstStyle/>
        <a:p>
          <a:endParaRPr lang="en-GB"/>
        </a:p>
      </dgm:t>
    </dgm:pt>
    <dgm:pt modelId="{1E2816BA-90CB-4036-923F-09530CEFF224}" type="sibTrans" cxnId="{DCC303F8-4C2B-498D-9C53-CA50DBFFAA0A}">
      <dgm:prSet/>
      <dgm:spPr/>
      <dgm:t>
        <a:bodyPr/>
        <a:lstStyle/>
        <a:p>
          <a:endParaRPr lang="en-GB"/>
        </a:p>
      </dgm:t>
    </dgm:pt>
    <dgm:pt modelId="{E2712D6E-C168-4776-BE95-254A8875A960}">
      <dgm:prSet custT="1"/>
      <dgm:spPr/>
      <dgm:t>
        <a:bodyPr/>
        <a:lstStyle/>
        <a:p>
          <a:r>
            <a:rPr lang="en-US" sz="1600" dirty="0"/>
            <a:t>Text</a:t>
          </a:r>
          <a:endParaRPr lang="en-GB" sz="1200" dirty="0"/>
        </a:p>
      </dgm:t>
    </dgm:pt>
    <dgm:pt modelId="{996CA6A0-299E-48C3-9626-BBFC2C7B28F8}" type="parTrans" cxnId="{BDB94355-E760-41E8-B034-1C1E6E613810}">
      <dgm:prSet/>
      <dgm:spPr/>
      <dgm:t>
        <a:bodyPr/>
        <a:lstStyle/>
        <a:p>
          <a:endParaRPr lang="en-GB"/>
        </a:p>
      </dgm:t>
    </dgm:pt>
    <dgm:pt modelId="{C9E6605A-0DB1-4C73-B40C-877D81DC8249}" type="sibTrans" cxnId="{BDB94355-E760-41E8-B034-1C1E6E613810}">
      <dgm:prSet/>
      <dgm:spPr/>
      <dgm:t>
        <a:bodyPr/>
        <a:lstStyle/>
        <a:p>
          <a:endParaRPr lang="en-GB"/>
        </a:p>
      </dgm:t>
    </dgm:pt>
    <dgm:pt modelId="{5A6473DA-105D-4942-BC56-46E2456978E6}">
      <dgm:prSet/>
      <dgm:spPr/>
      <dgm:t>
        <a:bodyPr/>
        <a:lstStyle/>
        <a:p>
          <a:r>
            <a:rPr lang="en-GB" dirty="0"/>
            <a:t>Detect the most prominent emotion in the sentence I will give you, by selecting the emotion from the following list:</a:t>
          </a:r>
          <a:br>
            <a:rPr lang="en-GB" dirty="0"/>
          </a:br>
          <a:r>
            <a:rPr lang="en-GB" dirty="0"/>
            <a:t>sadness, enthusiasm, neutral, worry, surprise, love, fun, hate, happiness, boredom, relief, anger</a:t>
          </a:r>
        </a:p>
      </dgm:t>
    </dgm:pt>
    <dgm:pt modelId="{F84EA247-6642-4E61-8F9F-CA13A2B4D551}" type="parTrans" cxnId="{47CE3F3C-2AF5-4568-99C2-00F8990C9E31}">
      <dgm:prSet/>
      <dgm:spPr/>
      <dgm:t>
        <a:bodyPr/>
        <a:lstStyle/>
        <a:p>
          <a:endParaRPr lang="en-GB"/>
        </a:p>
      </dgm:t>
    </dgm:pt>
    <dgm:pt modelId="{8A6D01FE-955B-466F-8CFF-76EF75865843}" type="sibTrans" cxnId="{47CE3F3C-2AF5-4568-99C2-00F8990C9E31}">
      <dgm:prSet/>
      <dgm:spPr/>
      <dgm:t>
        <a:bodyPr/>
        <a:lstStyle/>
        <a:p>
          <a:endParaRPr lang="en-GB"/>
        </a:p>
      </dgm:t>
    </dgm:pt>
    <dgm:pt modelId="{33980967-CFC1-4420-B35F-65DD17AD582F}">
      <dgm:prSet custT="1"/>
      <dgm:spPr/>
      <dgm:t>
        <a:bodyPr/>
        <a:lstStyle/>
        <a:p>
          <a:r>
            <a:rPr lang="en-US" sz="1600" dirty="0"/>
            <a:t>Number</a:t>
          </a:r>
          <a:endParaRPr lang="en-GB" sz="1200" dirty="0"/>
        </a:p>
      </dgm:t>
    </dgm:pt>
    <dgm:pt modelId="{742A0E60-8903-4AE6-BCA7-2D05598C170B}" type="parTrans" cxnId="{A3893553-8202-4FCB-8E77-701C8D5BB7A8}">
      <dgm:prSet/>
      <dgm:spPr/>
      <dgm:t>
        <a:bodyPr/>
        <a:lstStyle/>
        <a:p>
          <a:endParaRPr lang="en-GB"/>
        </a:p>
      </dgm:t>
    </dgm:pt>
    <dgm:pt modelId="{EE6EDCDF-CDAB-431C-8227-466049013ADF}" type="sibTrans" cxnId="{A3893553-8202-4FCB-8E77-701C8D5BB7A8}">
      <dgm:prSet/>
      <dgm:spPr/>
      <dgm:t>
        <a:bodyPr/>
        <a:lstStyle/>
        <a:p>
          <a:endParaRPr lang="en-GB"/>
        </a:p>
      </dgm:t>
    </dgm:pt>
    <dgm:pt modelId="{088050A8-685B-4E5B-B12A-5763249DEEAF}">
      <dgm:prSet/>
      <dgm:spPr/>
      <dgm:t>
        <a:bodyPr/>
        <a:lstStyle/>
        <a:p>
          <a:r>
            <a:rPr lang="en-GB" dirty="0"/>
            <a:t>Detect the most prominent emotion expressed in the text I will give you. Use only a number from the list 1, 2, 3, 4, 5, 6, 7, 8, 9, 10, 11, and 12 in your response to represent the detected emotion, where the returned numbers correspond to detected emotions using the following mapping:</a:t>
          </a:r>
          <a:br>
            <a:rPr lang="en-GB" dirty="0"/>
          </a:br>
          <a:r>
            <a:rPr lang="en-GB" dirty="0"/>
            <a:t>        1. sadness</a:t>
          </a:r>
          <a:br>
            <a:rPr lang="en-GB" dirty="0"/>
          </a:br>
          <a:r>
            <a:rPr lang="en-GB" dirty="0"/>
            <a:t>        2. enthusiasm</a:t>
          </a:r>
          <a:br>
            <a:rPr lang="en-GB" dirty="0"/>
          </a:br>
          <a:r>
            <a:rPr lang="en-GB" dirty="0"/>
            <a:t>        3. neutral</a:t>
          </a:r>
          <a:br>
            <a:rPr lang="en-GB" dirty="0"/>
          </a:br>
          <a:r>
            <a:rPr lang="en-GB" dirty="0"/>
            <a:t>        4. worry</a:t>
          </a:r>
          <a:br>
            <a:rPr lang="en-GB" dirty="0"/>
          </a:br>
          <a:r>
            <a:rPr lang="en-GB" dirty="0"/>
            <a:t>        5. surprise</a:t>
          </a:r>
          <a:br>
            <a:rPr lang="en-GB" dirty="0"/>
          </a:br>
          <a:r>
            <a:rPr lang="en-GB" dirty="0"/>
            <a:t>        6. love</a:t>
          </a:r>
          <a:br>
            <a:rPr lang="en-GB" dirty="0"/>
          </a:br>
          <a:r>
            <a:rPr lang="en-GB" dirty="0"/>
            <a:t>        7. fun</a:t>
          </a:r>
          <a:br>
            <a:rPr lang="en-GB" dirty="0"/>
          </a:br>
          <a:r>
            <a:rPr lang="en-GB" dirty="0"/>
            <a:t>        8. hate</a:t>
          </a:r>
          <a:br>
            <a:rPr lang="en-GB" dirty="0"/>
          </a:br>
          <a:r>
            <a:rPr lang="en-GB" dirty="0"/>
            <a:t>        9.happiness</a:t>
          </a:r>
          <a:br>
            <a:rPr lang="en-GB" dirty="0"/>
          </a:br>
          <a:r>
            <a:rPr lang="en-GB" dirty="0"/>
            <a:t>        10. boredom</a:t>
          </a:r>
          <a:br>
            <a:rPr lang="en-GB" dirty="0"/>
          </a:br>
          <a:r>
            <a:rPr lang="en-GB" dirty="0"/>
            <a:t>        11. relief</a:t>
          </a:r>
          <a:br>
            <a:rPr lang="en-GB" dirty="0"/>
          </a:br>
          <a:r>
            <a:rPr lang="en-GB" dirty="0"/>
            <a:t>        12. anger</a:t>
          </a:r>
        </a:p>
      </dgm:t>
    </dgm:pt>
    <dgm:pt modelId="{4A726886-4A14-4F1C-85B5-EE4F25725490}" type="parTrans" cxnId="{CE4D3FE6-0AF2-475F-AB42-17E85AC87CAB}">
      <dgm:prSet/>
      <dgm:spPr/>
      <dgm:t>
        <a:bodyPr/>
        <a:lstStyle/>
        <a:p>
          <a:endParaRPr lang="en-GB"/>
        </a:p>
      </dgm:t>
    </dgm:pt>
    <dgm:pt modelId="{D9D9B1A1-91EE-47F1-B2D9-81C0E92BAC30}" type="sibTrans" cxnId="{CE4D3FE6-0AF2-475F-AB42-17E85AC87CAB}">
      <dgm:prSet/>
      <dgm:spPr/>
      <dgm:t>
        <a:bodyPr/>
        <a:lstStyle/>
        <a:p>
          <a:endParaRPr lang="en-GB"/>
        </a:p>
      </dgm:t>
    </dgm:pt>
    <dgm:pt modelId="{A7C652FC-9B68-4C89-9D79-BBB348ACFBBB}">
      <dgm:prSet/>
      <dgm:spPr/>
      <dgm:t>
        <a:bodyPr/>
        <a:lstStyle/>
        <a:p>
          <a:r>
            <a:rPr lang="en-GB" dirty="0"/>
            <a:t>Include your reason for selecting this emotion.</a:t>
          </a:r>
        </a:p>
      </dgm:t>
    </dgm:pt>
    <dgm:pt modelId="{C7FFF7CA-6FA9-4758-86E0-45BA7163D670}" type="parTrans" cxnId="{E1E43BE6-7987-4DB5-AC28-B3DC0128F18D}">
      <dgm:prSet/>
      <dgm:spPr/>
      <dgm:t>
        <a:bodyPr/>
        <a:lstStyle/>
        <a:p>
          <a:endParaRPr lang="en-GB"/>
        </a:p>
      </dgm:t>
    </dgm:pt>
    <dgm:pt modelId="{1442BCD4-1D73-45DC-9F55-AD16A4F247DB}" type="sibTrans" cxnId="{E1E43BE6-7987-4DB5-AC28-B3DC0128F18D}">
      <dgm:prSet/>
      <dgm:spPr/>
      <dgm:t>
        <a:bodyPr/>
        <a:lstStyle/>
        <a:p>
          <a:endParaRPr lang="en-GB"/>
        </a:p>
      </dgm:t>
    </dgm:pt>
    <dgm:pt modelId="{05D5A9C2-F924-4C24-B5B6-7106E209D689}">
      <dgm:prSet/>
      <dgm:spPr/>
      <dgm:t>
        <a:bodyPr/>
        <a:lstStyle/>
        <a:p>
          <a:r>
            <a:rPr lang="en-GB" dirty="0"/>
            <a:t>Structure the returned list as JSON using: [{"emotion": "detected emotion", "rationale": "your explanation"]}, ...]</a:t>
          </a:r>
        </a:p>
      </dgm:t>
    </dgm:pt>
    <dgm:pt modelId="{FFF72F06-6D1B-4812-BE3A-8CB81E4F2EC7}" type="parTrans" cxnId="{20D5ABD1-A895-4D76-8645-AFF6C139DD9E}">
      <dgm:prSet/>
      <dgm:spPr/>
      <dgm:t>
        <a:bodyPr/>
        <a:lstStyle/>
        <a:p>
          <a:endParaRPr lang="en-GB"/>
        </a:p>
      </dgm:t>
    </dgm:pt>
    <dgm:pt modelId="{573F6038-9179-4DFA-8380-B2AF766F2D3D}" type="sibTrans" cxnId="{20D5ABD1-A895-4D76-8645-AFF6C139DD9E}">
      <dgm:prSet/>
      <dgm:spPr/>
      <dgm:t>
        <a:bodyPr/>
        <a:lstStyle/>
        <a:p>
          <a:endParaRPr lang="en-GB"/>
        </a:p>
      </dgm:t>
    </dgm:pt>
    <dgm:pt modelId="{E3971F34-44FF-4A9C-8A43-78553E6C11E5}">
      <dgm:prSet/>
      <dgm:spPr/>
      <dgm:t>
        <a:bodyPr/>
        <a:lstStyle/>
        <a:p>
          <a:r>
            <a:rPr lang="en-GB" dirty="0"/>
            <a:t>Your reply must be just one word selected from the above list. Do not use anything else!</a:t>
          </a:r>
        </a:p>
      </dgm:t>
    </dgm:pt>
    <dgm:pt modelId="{FF24B69A-4FAC-4ED9-8F92-AB784C128DED}" type="parTrans" cxnId="{6395A984-A31E-47CE-9F3B-C0C77966E9A3}">
      <dgm:prSet/>
      <dgm:spPr/>
      <dgm:t>
        <a:bodyPr/>
        <a:lstStyle/>
        <a:p>
          <a:endParaRPr lang="en-GB"/>
        </a:p>
      </dgm:t>
    </dgm:pt>
    <dgm:pt modelId="{8BF3CBB3-1A42-4F35-8205-881B46130485}" type="sibTrans" cxnId="{6395A984-A31E-47CE-9F3B-C0C77966E9A3}">
      <dgm:prSet/>
      <dgm:spPr/>
      <dgm:t>
        <a:bodyPr/>
        <a:lstStyle/>
        <a:p>
          <a:endParaRPr lang="en-GB"/>
        </a:p>
      </dgm:t>
    </dgm:pt>
    <dgm:pt modelId="{81BF0D41-FDB9-4AFA-BA59-0918D0D56AAB}">
      <dgm:prSet/>
      <dgm:spPr/>
      <dgm:t>
        <a:bodyPr/>
        <a:lstStyle/>
        <a:p>
          <a:r>
            <a:rPr lang="en-GB" dirty="0"/>
            <a:t>Do not use any words in your response, just the number corresponding to the most prominent emotion</a:t>
          </a:r>
        </a:p>
      </dgm:t>
    </dgm:pt>
    <dgm:pt modelId="{840EA678-3478-40FD-AB9E-91627BEE17E1}" type="parTrans" cxnId="{C18F64DB-EE9B-43BA-A49A-6E9F9442C0B6}">
      <dgm:prSet/>
      <dgm:spPr/>
      <dgm:t>
        <a:bodyPr/>
        <a:lstStyle/>
        <a:p>
          <a:endParaRPr lang="en-GB"/>
        </a:p>
      </dgm:t>
    </dgm:pt>
    <dgm:pt modelId="{54ED2695-AB40-442F-BF49-30836499CDC2}" type="sibTrans" cxnId="{C18F64DB-EE9B-43BA-A49A-6E9F9442C0B6}">
      <dgm:prSet/>
      <dgm:spPr/>
      <dgm:t>
        <a:bodyPr/>
        <a:lstStyle/>
        <a:p>
          <a:endParaRPr lang="en-GB"/>
        </a:p>
      </dgm:t>
    </dgm:pt>
    <dgm:pt modelId="{4F1A9C30-64ED-41E6-843F-207C02147746}" type="pres">
      <dgm:prSet presAssocID="{C45C8097-ACF9-43DC-AADC-E47239D6A934}" presName="Name0" presStyleCnt="0">
        <dgm:presLayoutVars>
          <dgm:dir/>
          <dgm:animLvl val="lvl"/>
          <dgm:resizeHandles val="exact"/>
        </dgm:presLayoutVars>
      </dgm:prSet>
      <dgm:spPr/>
    </dgm:pt>
    <dgm:pt modelId="{A163C737-CD29-49F6-8CE4-8D4EC6F6A71E}" type="pres">
      <dgm:prSet presAssocID="{52BB2E76-43B4-4DF3-BB55-D35832D9CAAF}" presName="composite" presStyleCnt="0"/>
      <dgm:spPr/>
    </dgm:pt>
    <dgm:pt modelId="{4D023CE9-1F04-4DA3-ABB0-72157AACC03E}" type="pres">
      <dgm:prSet presAssocID="{52BB2E76-43B4-4DF3-BB55-D35832D9CAAF}" presName="parTx" presStyleLbl="alignNode1" presStyleIdx="0" presStyleCnt="3">
        <dgm:presLayoutVars>
          <dgm:chMax val="0"/>
          <dgm:chPref val="0"/>
          <dgm:bulletEnabled val="1"/>
        </dgm:presLayoutVars>
      </dgm:prSet>
      <dgm:spPr/>
    </dgm:pt>
    <dgm:pt modelId="{222380DA-C9CD-4C79-8161-E51572FFB82E}" type="pres">
      <dgm:prSet presAssocID="{52BB2E76-43B4-4DF3-BB55-D35832D9CAAF}" presName="desTx" presStyleLbl="alignAccFollowNode1" presStyleIdx="0" presStyleCnt="3">
        <dgm:presLayoutVars>
          <dgm:bulletEnabled val="1"/>
        </dgm:presLayoutVars>
      </dgm:prSet>
      <dgm:spPr/>
    </dgm:pt>
    <dgm:pt modelId="{6E923418-881F-41A9-B831-075C75004A9D}" type="pres">
      <dgm:prSet presAssocID="{B850F6AC-E4DA-4C08-818E-ADF8C4E7A482}" presName="space" presStyleCnt="0"/>
      <dgm:spPr/>
    </dgm:pt>
    <dgm:pt modelId="{4129051A-2D8E-4AB1-B69E-F5561BDA761C}" type="pres">
      <dgm:prSet presAssocID="{E2712D6E-C168-4776-BE95-254A8875A960}" presName="composite" presStyleCnt="0"/>
      <dgm:spPr/>
    </dgm:pt>
    <dgm:pt modelId="{52CEA900-34C8-43DD-ADD2-DF2D5843D09A}" type="pres">
      <dgm:prSet presAssocID="{E2712D6E-C168-4776-BE95-254A8875A960}" presName="parTx" presStyleLbl="alignNode1" presStyleIdx="1" presStyleCnt="3">
        <dgm:presLayoutVars>
          <dgm:chMax val="0"/>
          <dgm:chPref val="0"/>
          <dgm:bulletEnabled val="1"/>
        </dgm:presLayoutVars>
      </dgm:prSet>
      <dgm:spPr/>
    </dgm:pt>
    <dgm:pt modelId="{4EDAD9CB-5542-4373-BB35-0329F4B57B1E}" type="pres">
      <dgm:prSet presAssocID="{E2712D6E-C168-4776-BE95-254A8875A960}" presName="desTx" presStyleLbl="alignAccFollowNode1" presStyleIdx="1" presStyleCnt="3">
        <dgm:presLayoutVars>
          <dgm:bulletEnabled val="1"/>
        </dgm:presLayoutVars>
      </dgm:prSet>
      <dgm:spPr/>
    </dgm:pt>
    <dgm:pt modelId="{FA0661FE-DD7E-41E4-B09D-601511C57AF1}" type="pres">
      <dgm:prSet presAssocID="{C9E6605A-0DB1-4C73-B40C-877D81DC8249}" presName="space" presStyleCnt="0"/>
      <dgm:spPr/>
    </dgm:pt>
    <dgm:pt modelId="{DA449362-2830-4B26-86E8-83EDD9C560F6}" type="pres">
      <dgm:prSet presAssocID="{33980967-CFC1-4420-B35F-65DD17AD582F}" presName="composite" presStyleCnt="0"/>
      <dgm:spPr/>
    </dgm:pt>
    <dgm:pt modelId="{B36E82DA-2985-435C-A10D-002B455BCF7F}" type="pres">
      <dgm:prSet presAssocID="{33980967-CFC1-4420-B35F-65DD17AD582F}" presName="parTx" presStyleLbl="alignNode1" presStyleIdx="2" presStyleCnt="3">
        <dgm:presLayoutVars>
          <dgm:chMax val="0"/>
          <dgm:chPref val="0"/>
          <dgm:bulletEnabled val="1"/>
        </dgm:presLayoutVars>
      </dgm:prSet>
      <dgm:spPr/>
    </dgm:pt>
    <dgm:pt modelId="{7E9B9C69-1F99-4633-AFE7-DE2420F247FB}" type="pres">
      <dgm:prSet presAssocID="{33980967-CFC1-4420-B35F-65DD17AD582F}" presName="desTx" presStyleLbl="alignAccFollowNode1" presStyleIdx="2" presStyleCnt="3">
        <dgm:presLayoutVars>
          <dgm:bulletEnabled val="1"/>
        </dgm:presLayoutVars>
      </dgm:prSet>
      <dgm:spPr/>
    </dgm:pt>
  </dgm:ptLst>
  <dgm:cxnLst>
    <dgm:cxn modelId="{59AB6012-692D-4990-B73B-E94AD987F62F}" type="presOf" srcId="{C88513B1-DE61-445E-9CA4-4C66F5DD331C}" destId="{222380DA-C9CD-4C79-8161-E51572FFB82E}" srcOrd="0" destOrd="0" presId="urn:microsoft.com/office/officeart/2005/8/layout/hList1"/>
    <dgm:cxn modelId="{07367C21-3DED-4D12-BAE2-DB0D90999B4A}" srcId="{C45C8097-ACF9-43DC-AADC-E47239D6A934}" destId="{52BB2E76-43B4-4DF3-BB55-D35832D9CAAF}" srcOrd="0" destOrd="0" parTransId="{EBBFB807-56FB-4284-B274-F6748BF41930}" sibTransId="{B850F6AC-E4DA-4C08-818E-ADF8C4E7A482}"/>
    <dgm:cxn modelId="{873A612A-90E3-43F5-8087-D0E1F4CB199B}" type="presOf" srcId="{E3971F34-44FF-4A9C-8A43-78553E6C11E5}" destId="{4EDAD9CB-5542-4373-BB35-0329F4B57B1E}" srcOrd="0" destOrd="1" presId="urn:microsoft.com/office/officeart/2005/8/layout/hList1"/>
    <dgm:cxn modelId="{47CE3F3C-2AF5-4568-99C2-00F8990C9E31}" srcId="{E2712D6E-C168-4776-BE95-254A8875A960}" destId="{5A6473DA-105D-4942-BC56-46E2456978E6}" srcOrd="0" destOrd="0" parTransId="{F84EA247-6642-4E61-8F9F-CA13A2B4D551}" sibTransId="{8A6D01FE-955B-466F-8CFF-76EF75865843}"/>
    <dgm:cxn modelId="{C0A4293F-57F3-487B-8855-DD35CE0F3E93}" type="presOf" srcId="{05D5A9C2-F924-4C24-B5B6-7106E209D689}" destId="{222380DA-C9CD-4C79-8161-E51572FFB82E}" srcOrd="0" destOrd="2" presId="urn:microsoft.com/office/officeart/2005/8/layout/hList1"/>
    <dgm:cxn modelId="{E7795A49-1206-4B12-A8BA-76845CF0E547}" type="presOf" srcId="{A7C652FC-9B68-4C89-9D79-BBB348ACFBBB}" destId="{222380DA-C9CD-4C79-8161-E51572FFB82E}" srcOrd="0" destOrd="1" presId="urn:microsoft.com/office/officeart/2005/8/layout/hList1"/>
    <dgm:cxn modelId="{A80FCE6A-BF22-43DE-A3D7-D1C0DE62C7C9}" type="presOf" srcId="{088050A8-685B-4E5B-B12A-5763249DEEAF}" destId="{7E9B9C69-1F99-4633-AFE7-DE2420F247FB}" srcOrd="0" destOrd="0" presId="urn:microsoft.com/office/officeart/2005/8/layout/hList1"/>
    <dgm:cxn modelId="{4FFD8B51-E236-42DF-86D1-353FDFE32E34}" type="presOf" srcId="{52BB2E76-43B4-4DF3-BB55-D35832D9CAAF}" destId="{4D023CE9-1F04-4DA3-ABB0-72157AACC03E}" srcOrd="0" destOrd="0" presId="urn:microsoft.com/office/officeart/2005/8/layout/hList1"/>
    <dgm:cxn modelId="{A3893553-8202-4FCB-8E77-701C8D5BB7A8}" srcId="{C45C8097-ACF9-43DC-AADC-E47239D6A934}" destId="{33980967-CFC1-4420-B35F-65DD17AD582F}" srcOrd="2" destOrd="0" parTransId="{742A0E60-8903-4AE6-BCA7-2D05598C170B}" sibTransId="{EE6EDCDF-CDAB-431C-8227-466049013ADF}"/>
    <dgm:cxn modelId="{BDB94355-E760-41E8-B034-1C1E6E613810}" srcId="{C45C8097-ACF9-43DC-AADC-E47239D6A934}" destId="{E2712D6E-C168-4776-BE95-254A8875A960}" srcOrd="1" destOrd="0" parTransId="{996CA6A0-299E-48C3-9626-BBFC2C7B28F8}" sibTransId="{C9E6605A-0DB1-4C73-B40C-877D81DC8249}"/>
    <dgm:cxn modelId="{66371184-22BB-4C31-A74F-6833F9C142FB}" type="presOf" srcId="{33980967-CFC1-4420-B35F-65DD17AD582F}" destId="{B36E82DA-2985-435C-A10D-002B455BCF7F}" srcOrd="0" destOrd="0" presId="urn:microsoft.com/office/officeart/2005/8/layout/hList1"/>
    <dgm:cxn modelId="{6395A984-A31E-47CE-9F3B-C0C77966E9A3}" srcId="{E2712D6E-C168-4776-BE95-254A8875A960}" destId="{E3971F34-44FF-4A9C-8A43-78553E6C11E5}" srcOrd="1" destOrd="0" parTransId="{FF24B69A-4FAC-4ED9-8F92-AB784C128DED}" sibTransId="{8BF3CBB3-1A42-4F35-8205-881B46130485}"/>
    <dgm:cxn modelId="{56748FCB-CDA2-49A6-AEDA-87DDB7B1FA7D}" type="presOf" srcId="{C45C8097-ACF9-43DC-AADC-E47239D6A934}" destId="{4F1A9C30-64ED-41E6-843F-207C02147746}" srcOrd="0" destOrd="0" presId="urn:microsoft.com/office/officeart/2005/8/layout/hList1"/>
    <dgm:cxn modelId="{20D5ABD1-A895-4D76-8645-AFF6C139DD9E}" srcId="{52BB2E76-43B4-4DF3-BB55-D35832D9CAAF}" destId="{05D5A9C2-F924-4C24-B5B6-7106E209D689}" srcOrd="2" destOrd="0" parTransId="{FFF72F06-6D1B-4812-BE3A-8CB81E4F2EC7}" sibTransId="{573F6038-9179-4DFA-8380-B2AF766F2D3D}"/>
    <dgm:cxn modelId="{FEC90FD6-F44D-4AE6-90B5-EE89EE3D84CA}" type="presOf" srcId="{E2712D6E-C168-4776-BE95-254A8875A960}" destId="{52CEA900-34C8-43DD-ADD2-DF2D5843D09A}" srcOrd="0" destOrd="0" presId="urn:microsoft.com/office/officeart/2005/8/layout/hList1"/>
    <dgm:cxn modelId="{C18F64DB-EE9B-43BA-A49A-6E9F9442C0B6}" srcId="{33980967-CFC1-4420-B35F-65DD17AD582F}" destId="{81BF0D41-FDB9-4AFA-BA59-0918D0D56AAB}" srcOrd="1" destOrd="0" parTransId="{840EA678-3478-40FD-AB9E-91627BEE17E1}" sibTransId="{54ED2695-AB40-442F-BF49-30836499CDC2}"/>
    <dgm:cxn modelId="{A8152EE2-4A4E-48DC-8C36-36F2F7EB83FC}" type="presOf" srcId="{5A6473DA-105D-4942-BC56-46E2456978E6}" destId="{4EDAD9CB-5542-4373-BB35-0329F4B57B1E}" srcOrd="0" destOrd="0" presId="urn:microsoft.com/office/officeart/2005/8/layout/hList1"/>
    <dgm:cxn modelId="{E1E43BE6-7987-4DB5-AC28-B3DC0128F18D}" srcId="{52BB2E76-43B4-4DF3-BB55-D35832D9CAAF}" destId="{A7C652FC-9B68-4C89-9D79-BBB348ACFBBB}" srcOrd="1" destOrd="0" parTransId="{C7FFF7CA-6FA9-4758-86E0-45BA7163D670}" sibTransId="{1442BCD4-1D73-45DC-9F55-AD16A4F247DB}"/>
    <dgm:cxn modelId="{CE4D3FE6-0AF2-475F-AB42-17E85AC87CAB}" srcId="{33980967-CFC1-4420-B35F-65DD17AD582F}" destId="{088050A8-685B-4E5B-B12A-5763249DEEAF}" srcOrd="0" destOrd="0" parTransId="{4A726886-4A14-4F1C-85B5-EE4F25725490}" sibTransId="{D9D9B1A1-91EE-47F1-B2D9-81C0E92BAC30}"/>
    <dgm:cxn modelId="{DCC303F8-4C2B-498D-9C53-CA50DBFFAA0A}" srcId="{52BB2E76-43B4-4DF3-BB55-D35832D9CAAF}" destId="{C88513B1-DE61-445E-9CA4-4C66F5DD331C}" srcOrd="0" destOrd="0" parTransId="{7ABC6928-31AF-42E5-B627-022652AF2ED3}" sibTransId="{1E2816BA-90CB-4036-923F-09530CEFF224}"/>
    <dgm:cxn modelId="{D7B743FD-892E-41DF-8094-1D9CAD4AE4CB}" type="presOf" srcId="{81BF0D41-FDB9-4AFA-BA59-0918D0D56AAB}" destId="{7E9B9C69-1F99-4633-AFE7-DE2420F247FB}" srcOrd="0" destOrd="1" presId="urn:microsoft.com/office/officeart/2005/8/layout/hList1"/>
    <dgm:cxn modelId="{9FD3FF88-9041-4F6C-B6B9-BCD30EF4DC53}" type="presParOf" srcId="{4F1A9C30-64ED-41E6-843F-207C02147746}" destId="{A163C737-CD29-49F6-8CE4-8D4EC6F6A71E}" srcOrd="0" destOrd="0" presId="urn:microsoft.com/office/officeart/2005/8/layout/hList1"/>
    <dgm:cxn modelId="{7244D21A-363A-441D-A516-CF949303D7EA}" type="presParOf" srcId="{A163C737-CD29-49F6-8CE4-8D4EC6F6A71E}" destId="{4D023CE9-1F04-4DA3-ABB0-72157AACC03E}" srcOrd="0" destOrd="0" presId="urn:microsoft.com/office/officeart/2005/8/layout/hList1"/>
    <dgm:cxn modelId="{5F2709CD-4383-4B97-BDB0-486D540EB31E}" type="presParOf" srcId="{A163C737-CD29-49F6-8CE4-8D4EC6F6A71E}" destId="{222380DA-C9CD-4C79-8161-E51572FFB82E}" srcOrd="1" destOrd="0" presId="urn:microsoft.com/office/officeart/2005/8/layout/hList1"/>
    <dgm:cxn modelId="{6A0BA8F8-6F01-4B9E-8E84-4F808D30FCA5}" type="presParOf" srcId="{4F1A9C30-64ED-41E6-843F-207C02147746}" destId="{6E923418-881F-41A9-B831-075C75004A9D}" srcOrd="1" destOrd="0" presId="urn:microsoft.com/office/officeart/2005/8/layout/hList1"/>
    <dgm:cxn modelId="{345A14D8-A72E-4D0C-AF80-86971B525AA9}" type="presParOf" srcId="{4F1A9C30-64ED-41E6-843F-207C02147746}" destId="{4129051A-2D8E-4AB1-B69E-F5561BDA761C}" srcOrd="2" destOrd="0" presId="urn:microsoft.com/office/officeart/2005/8/layout/hList1"/>
    <dgm:cxn modelId="{2B1FE04C-96B4-4676-BFB6-423DBD49170A}" type="presParOf" srcId="{4129051A-2D8E-4AB1-B69E-F5561BDA761C}" destId="{52CEA900-34C8-43DD-ADD2-DF2D5843D09A}" srcOrd="0" destOrd="0" presId="urn:microsoft.com/office/officeart/2005/8/layout/hList1"/>
    <dgm:cxn modelId="{3DE7031F-B75A-4667-9CBB-AC1B2D2852E3}" type="presParOf" srcId="{4129051A-2D8E-4AB1-B69E-F5561BDA761C}" destId="{4EDAD9CB-5542-4373-BB35-0329F4B57B1E}" srcOrd="1" destOrd="0" presId="urn:microsoft.com/office/officeart/2005/8/layout/hList1"/>
    <dgm:cxn modelId="{F8A8A2EC-F1D5-477A-AAF9-520393C34ED9}" type="presParOf" srcId="{4F1A9C30-64ED-41E6-843F-207C02147746}" destId="{FA0661FE-DD7E-41E4-B09D-601511C57AF1}" srcOrd="3" destOrd="0" presId="urn:microsoft.com/office/officeart/2005/8/layout/hList1"/>
    <dgm:cxn modelId="{DC02200F-564B-4799-B921-D02F259CC063}" type="presParOf" srcId="{4F1A9C30-64ED-41E6-843F-207C02147746}" destId="{DA449362-2830-4B26-86E8-83EDD9C560F6}" srcOrd="4" destOrd="0" presId="urn:microsoft.com/office/officeart/2005/8/layout/hList1"/>
    <dgm:cxn modelId="{BD3AC229-07EF-4C39-8793-E981F2F71D1B}" type="presParOf" srcId="{DA449362-2830-4B26-86E8-83EDD9C560F6}" destId="{B36E82DA-2985-435C-A10D-002B455BCF7F}" srcOrd="0" destOrd="0" presId="urn:microsoft.com/office/officeart/2005/8/layout/hList1"/>
    <dgm:cxn modelId="{5E445AE0-BED9-4A1C-8F0C-13AF5B7569CC}" type="presParOf" srcId="{DA449362-2830-4B26-86E8-83EDD9C560F6}" destId="{7E9B9C69-1F99-4633-AFE7-DE2420F247F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023CE9-1F04-4DA3-ABB0-72157AACC03E}">
      <dsp:nvSpPr>
        <dsp:cNvPr id="0" name=""/>
        <dsp:cNvSpPr/>
      </dsp:nvSpPr>
      <dsp:spPr>
        <a:xfrm>
          <a:off x="3286" y="42725"/>
          <a:ext cx="3203971" cy="37484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Reason</a:t>
          </a:r>
          <a:endParaRPr lang="en-GB" sz="1200" kern="1200" dirty="0"/>
        </a:p>
      </dsp:txBody>
      <dsp:txXfrm>
        <a:off x="3286" y="42725"/>
        <a:ext cx="3203971" cy="374849"/>
      </dsp:txXfrm>
    </dsp:sp>
    <dsp:sp modelId="{222380DA-C9CD-4C79-8161-E51572FFB82E}">
      <dsp:nvSpPr>
        <dsp:cNvPr id="0" name=""/>
        <dsp:cNvSpPr/>
      </dsp:nvSpPr>
      <dsp:spPr>
        <a:xfrm>
          <a:off x="3286" y="417575"/>
          <a:ext cx="3203971" cy="389103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Return the most evident emotion in the given sentences. Reply only with one emotion from this list:</a:t>
          </a:r>
          <a:br>
            <a:rPr lang="en-GB" sz="1200" kern="1200" dirty="0"/>
          </a:br>
          <a:r>
            <a:rPr lang="en-GB" sz="1200" kern="1200" dirty="0"/>
            <a:t>sadness, enthusiasm, neutral, worry, surprise, love, fun, hate, happiness, boredom, relief, and anger.</a:t>
          </a:r>
        </a:p>
        <a:p>
          <a:pPr marL="114300" lvl="1" indent="-114300" algn="l" defTabSz="533400">
            <a:lnSpc>
              <a:spcPct val="90000"/>
            </a:lnSpc>
            <a:spcBef>
              <a:spcPct val="0"/>
            </a:spcBef>
            <a:spcAft>
              <a:spcPct val="15000"/>
            </a:spcAft>
            <a:buChar char="•"/>
          </a:pPr>
          <a:r>
            <a:rPr lang="en-GB" sz="1200" kern="1200" dirty="0"/>
            <a:t>Include your reason for selecting this emotion.</a:t>
          </a:r>
        </a:p>
        <a:p>
          <a:pPr marL="114300" lvl="1" indent="-114300" algn="l" defTabSz="533400">
            <a:lnSpc>
              <a:spcPct val="90000"/>
            </a:lnSpc>
            <a:spcBef>
              <a:spcPct val="0"/>
            </a:spcBef>
            <a:spcAft>
              <a:spcPct val="15000"/>
            </a:spcAft>
            <a:buChar char="•"/>
          </a:pPr>
          <a:r>
            <a:rPr lang="en-GB" sz="1200" kern="1200" dirty="0"/>
            <a:t>Structure the returned list as JSON using: [{"emotion": "detected emotion", "rationale": "your explanation"]}, ...]</a:t>
          </a:r>
        </a:p>
      </dsp:txBody>
      <dsp:txXfrm>
        <a:off x="3286" y="417575"/>
        <a:ext cx="3203971" cy="3891037"/>
      </dsp:txXfrm>
    </dsp:sp>
    <dsp:sp modelId="{52CEA900-34C8-43DD-ADD2-DF2D5843D09A}">
      <dsp:nvSpPr>
        <dsp:cNvPr id="0" name=""/>
        <dsp:cNvSpPr/>
      </dsp:nvSpPr>
      <dsp:spPr>
        <a:xfrm>
          <a:off x="3655814" y="42725"/>
          <a:ext cx="3203971" cy="37484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Text</a:t>
          </a:r>
          <a:endParaRPr lang="en-GB" sz="1200" kern="1200" dirty="0"/>
        </a:p>
      </dsp:txBody>
      <dsp:txXfrm>
        <a:off x="3655814" y="42725"/>
        <a:ext cx="3203971" cy="374849"/>
      </dsp:txXfrm>
    </dsp:sp>
    <dsp:sp modelId="{4EDAD9CB-5542-4373-BB35-0329F4B57B1E}">
      <dsp:nvSpPr>
        <dsp:cNvPr id="0" name=""/>
        <dsp:cNvSpPr/>
      </dsp:nvSpPr>
      <dsp:spPr>
        <a:xfrm>
          <a:off x="3655814" y="417575"/>
          <a:ext cx="3203971" cy="389103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Detect the most prominent emotion in the sentence I will give you, by selecting the emotion from the following list:</a:t>
          </a:r>
          <a:br>
            <a:rPr lang="en-GB" sz="1200" kern="1200" dirty="0"/>
          </a:br>
          <a:r>
            <a:rPr lang="en-GB" sz="1200" kern="1200" dirty="0"/>
            <a:t>sadness, enthusiasm, neutral, worry, surprise, love, fun, hate, happiness, boredom, relief, anger</a:t>
          </a:r>
        </a:p>
        <a:p>
          <a:pPr marL="114300" lvl="1" indent="-114300" algn="l" defTabSz="533400">
            <a:lnSpc>
              <a:spcPct val="90000"/>
            </a:lnSpc>
            <a:spcBef>
              <a:spcPct val="0"/>
            </a:spcBef>
            <a:spcAft>
              <a:spcPct val="15000"/>
            </a:spcAft>
            <a:buChar char="•"/>
          </a:pPr>
          <a:r>
            <a:rPr lang="en-GB" sz="1200" kern="1200" dirty="0"/>
            <a:t>Your reply must be just one word selected from the above list. Do not use anything else!</a:t>
          </a:r>
        </a:p>
      </dsp:txBody>
      <dsp:txXfrm>
        <a:off x="3655814" y="417575"/>
        <a:ext cx="3203971" cy="3891037"/>
      </dsp:txXfrm>
    </dsp:sp>
    <dsp:sp modelId="{B36E82DA-2985-435C-A10D-002B455BCF7F}">
      <dsp:nvSpPr>
        <dsp:cNvPr id="0" name=""/>
        <dsp:cNvSpPr/>
      </dsp:nvSpPr>
      <dsp:spPr>
        <a:xfrm>
          <a:off x="7308342" y="42725"/>
          <a:ext cx="3203971" cy="37484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Number</a:t>
          </a:r>
          <a:endParaRPr lang="en-GB" sz="1200" kern="1200" dirty="0"/>
        </a:p>
      </dsp:txBody>
      <dsp:txXfrm>
        <a:off x="7308342" y="42725"/>
        <a:ext cx="3203971" cy="374849"/>
      </dsp:txXfrm>
    </dsp:sp>
    <dsp:sp modelId="{7E9B9C69-1F99-4633-AFE7-DE2420F247FB}">
      <dsp:nvSpPr>
        <dsp:cNvPr id="0" name=""/>
        <dsp:cNvSpPr/>
      </dsp:nvSpPr>
      <dsp:spPr>
        <a:xfrm>
          <a:off x="7308342" y="417575"/>
          <a:ext cx="3203971" cy="389103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Detect the most prominent emotion expressed in the text I will give you. Use only a number from the list 1, 2, 3, 4, 5, 6, 7, 8, 9, 10, 11, and 12 in your response to represent the detected emotion, where the returned numbers correspond to detected emotions using the following mapping:</a:t>
          </a:r>
          <a:br>
            <a:rPr lang="en-GB" sz="1200" kern="1200" dirty="0"/>
          </a:br>
          <a:r>
            <a:rPr lang="en-GB" sz="1200" kern="1200" dirty="0"/>
            <a:t>        1. sadness</a:t>
          </a:r>
          <a:br>
            <a:rPr lang="en-GB" sz="1200" kern="1200" dirty="0"/>
          </a:br>
          <a:r>
            <a:rPr lang="en-GB" sz="1200" kern="1200" dirty="0"/>
            <a:t>        2. enthusiasm</a:t>
          </a:r>
          <a:br>
            <a:rPr lang="en-GB" sz="1200" kern="1200" dirty="0"/>
          </a:br>
          <a:r>
            <a:rPr lang="en-GB" sz="1200" kern="1200" dirty="0"/>
            <a:t>        3. neutral</a:t>
          </a:r>
          <a:br>
            <a:rPr lang="en-GB" sz="1200" kern="1200" dirty="0"/>
          </a:br>
          <a:r>
            <a:rPr lang="en-GB" sz="1200" kern="1200" dirty="0"/>
            <a:t>        4. worry</a:t>
          </a:r>
          <a:br>
            <a:rPr lang="en-GB" sz="1200" kern="1200" dirty="0"/>
          </a:br>
          <a:r>
            <a:rPr lang="en-GB" sz="1200" kern="1200" dirty="0"/>
            <a:t>        5. surprise</a:t>
          </a:r>
          <a:br>
            <a:rPr lang="en-GB" sz="1200" kern="1200" dirty="0"/>
          </a:br>
          <a:r>
            <a:rPr lang="en-GB" sz="1200" kern="1200" dirty="0"/>
            <a:t>        6. love</a:t>
          </a:r>
          <a:br>
            <a:rPr lang="en-GB" sz="1200" kern="1200" dirty="0"/>
          </a:br>
          <a:r>
            <a:rPr lang="en-GB" sz="1200" kern="1200" dirty="0"/>
            <a:t>        7. fun</a:t>
          </a:r>
          <a:br>
            <a:rPr lang="en-GB" sz="1200" kern="1200" dirty="0"/>
          </a:br>
          <a:r>
            <a:rPr lang="en-GB" sz="1200" kern="1200" dirty="0"/>
            <a:t>        8. hate</a:t>
          </a:r>
          <a:br>
            <a:rPr lang="en-GB" sz="1200" kern="1200" dirty="0"/>
          </a:br>
          <a:r>
            <a:rPr lang="en-GB" sz="1200" kern="1200" dirty="0"/>
            <a:t>        9.happiness</a:t>
          </a:r>
          <a:br>
            <a:rPr lang="en-GB" sz="1200" kern="1200" dirty="0"/>
          </a:br>
          <a:r>
            <a:rPr lang="en-GB" sz="1200" kern="1200" dirty="0"/>
            <a:t>        10. boredom</a:t>
          </a:r>
          <a:br>
            <a:rPr lang="en-GB" sz="1200" kern="1200" dirty="0"/>
          </a:br>
          <a:r>
            <a:rPr lang="en-GB" sz="1200" kern="1200" dirty="0"/>
            <a:t>        11. relief</a:t>
          </a:r>
          <a:br>
            <a:rPr lang="en-GB" sz="1200" kern="1200" dirty="0"/>
          </a:br>
          <a:r>
            <a:rPr lang="en-GB" sz="1200" kern="1200" dirty="0"/>
            <a:t>        12. anger</a:t>
          </a:r>
        </a:p>
        <a:p>
          <a:pPr marL="114300" lvl="1" indent="-114300" algn="l" defTabSz="533400">
            <a:lnSpc>
              <a:spcPct val="90000"/>
            </a:lnSpc>
            <a:spcBef>
              <a:spcPct val="0"/>
            </a:spcBef>
            <a:spcAft>
              <a:spcPct val="15000"/>
            </a:spcAft>
            <a:buChar char="•"/>
          </a:pPr>
          <a:r>
            <a:rPr lang="en-GB" sz="1200" kern="1200" dirty="0"/>
            <a:t>Do not use any words in your response, just the number corresponding to the most prominent emotion</a:t>
          </a:r>
        </a:p>
      </dsp:txBody>
      <dsp:txXfrm>
        <a:off x="7308342" y="417575"/>
        <a:ext cx="3203971" cy="389103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6103E-B6B1-B2DA-58DC-3C365FF17A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BF3FB86-E043-4B18-6877-9B924B5C6F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738C4D-9338-C13F-D5A4-DA2CABB01479}"/>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188749FF-8E6E-6B53-EDC7-7AD59F7366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FCE589-ACEB-9237-919A-03DB2B55A4D4}"/>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1501159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5819-B67E-B865-880C-AED720C020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0DE647-2A2F-0E5B-A477-0B31E0A2CF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7AD9B6-0141-4EFA-EBDB-3BE73A4039CC}"/>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3382CA32-9AC5-2CC5-7039-1F2DCF1FE4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3F138F-4486-7F27-E62C-4C3FC42DBFD7}"/>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1773088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B1B6B-E41C-B4A4-4E6C-A23E8E18FD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6A65E5B-DA56-1828-4C86-464F226532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3B2030-A0FE-180C-ABA0-7D562C085321}"/>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780AA115-25BF-524E-69C6-5584652B24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545BEA-F13B-60CE-C012-0B61BB10F8B4}"/>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1285220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ABC7-8507-B767-D7EF-B48A68398B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57E873-FDFF-7CC2-711E-427FC6F2E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132D872-9DEF-0ABE-0774-4CC4DD4CFE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EFF406-F0D7-21FB-F7CF-BD86A1A0F5DE}"/>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6" name="Footer Placeholder 5">
            <a:extLst>
              <a:ext uri="{FF2B5EF4-FFF2-40B4-BE49-F238E27FC236}">
                <a16:creationId xmlns:a16="http://schemas.microsoft.com/office/drawing/2014/main" id="{37AF3C38-9071-D227-E924-8F4AB2DA26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6849A8-1299-E640-7A19-0E50858F180A}"/>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231194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5FA2F-8385-20A7-C26C-F8A910717F4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9B65E78-61BC-3452-D207-E592F096B9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22DC9F-D330-711D-0803-C0C609A2B2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40DFC84-E11D-60A0-F1CC-03E729EE78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1CE7D3-5E2E-2916-1347-B31F66679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0F21BDD-FFBA-B4F1-5507-A09407DAD812}"/>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8" name="Footer Placeholder 7">
            <a:extLst>
              <a:ext uri="{FF2B5EF4-FFF2-40B4-BE49-F238E27FC236}">
                <a16:creationId xmlns:a16="http://schemas.microsoft.com/office/drawing/2014/main" id="{34B1C133-7CE0-122B-6968-445BD51096D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DF49126-DA57-54E8-AAEB-51582451004E}"/>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79924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8C6DF-F7D8-E4F7-398C-80AEDDB3548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B8087A0-F6A2-15A6-1A63-6E7FC7E568F7}"/>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4" name="Footer Placeholder 3">
            <a:extLst>
              <a:ext uri="{FF2B5EF4-FFF2-40B4-BE49-F238E27FC236}">
                <a16:creationId xmlns:a16="http://schemas.microsoft.com/office/drawing/2014/main" id="{CBE37F20-0420-AA8F-2F60-E134437E893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38BCB12-A5AE-93C6-1749-6C6E41802389}"/>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4204391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4828E6-8110-B15B-C7A7-E9FC20CF118A}"/>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3" name="Footer Placeholder 2">
            <a:extLst>
              <a:ext uri="{FF2B5EF4-FFF2-40B4-BE49-F238E27FC236}">
                <a16:creationId xmlns:a16="http://schemas.microsoft.com/office/drawing/2014/main" id="{ECA5C9A7-49AE-4B72-34DF-A788D1F025D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AFAA70D-42D9-392C-A730-9BDB4430D474}"/>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325015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9B93-2FE3-31A2-6134-B93DC5151E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3579E8-342E-913B-BA0E-7AECB6D76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E19CC73-A4BE-6192-A81A-275F2B0819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BE135E-E128-5E5F-DA79-ABA1BEC075DD}"/>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6" name="Footer Placeholder 5">
            <a:extLst>
              <a:ext uri="{FF2B5EF4-FFF2-40B4-BE49-F238E27FC236}">
                <a16:creationId xmlns:a16="http://schemas.microsoft.com/office/drawing/2014/main" id="{1E2F279D-2EE8-DF60-D8BA-607A110A57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983358-F8C7-D6D3-64AD-DDFA2BE71D6F}"/>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815407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AF77-96CB-5C84-1CF7-E48DF06A1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D8DF51B-1833-F8F9-E7FE-F3A424C710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656FFE-0900-EEA0-4F11-396828FDEA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35426-FF01-8704-3DC8-FE91CCFB6CEB}"/>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6" name="Footer Placeholder 5">
            <a:extLst>
              <a:ext uri="{FF2B5EF4-FFF2-40B4-BE49-F238E27FC236}">
                <a16:creationId xmlns:a16="http://schemas.microsoft.com/office/drawing/2014/main" id="{5E62381E-0E26-5B7A-EFD1-40B69302E7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CC44C1-BD03-E0AD-8F03-D628FE772EAC}"/>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99533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7B2A-739E-1F10-FADD-AD1D57A9873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198CCC-E43D-A98E-0209-3FCFD769C2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6ADE2E-0C6E-A095-FB4A-811BA28FC440}"/>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3866DACC-9D81-FB7A-A95D-00EA19A960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B31483-D637-F49B-8B30-AF22790C210F}"/>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319880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78F850-EF56-2967-6390-7C0F5F4A25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ABA1E79-76A9-5F17-2C92-B2D29AD7EE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ACD643-EC52-74BC-ED8E-2CEB7DEFFC52}"/>
              </a:ext>
            </a:extLst>
          </p:cNvPr>
          <p:cNvSpPr>
            <a:spLocks noGrp="1"/>
          </p:cNvSpPr>
          <p:nvPr>
            <p:ph type="dt" sz="half" idx="10"/>
          </p:nvPr>
        </p:nvSpPr>
        <p:spPr/>
        <p:txBody>
          <a:body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1E532462-24AA-6A1A-7A0B-23CB8503F3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8A75B6-16F2-0A84-4332-C29A72803964}"/>
              </a:ext>
            </a:extLst>
          </p:cNvPr>
          <p:cNvSpPr>
            <a:spLocks noGrp="1"/>
          </p:cNvSpPr>
          <p:nvPr>
            <p:ph type="sldNum" sz="quarter" idx="12"/>
          </p:nvPr>
        </p:nvSpPr>
        <p:spPr/>
        <p:txBody>
          <a:bodyPr/>
          <a:lstStyle/>
          <a:p>
            <a:fld id="{D416AEF5-0FC4-441F-B8C4-F1BAF6225062}" type="slidenum">
              <a:rPr lang="en-GB" smtClean="0"/>
              <a:t>‹#›</a:t>
            </a:fld>
            <a:endParaRPr lang="en-GB"/>
          </a:p>
        </p:txBody>
      </p:sp>
    </p:spTree>
    <p:extLst>
      <p:ext uri="{BB962C8B-B14F-4D97-AF65-F5344CB8AC3E}">
        <p14:creationId xmlns:p14="http://schemas.microsoft.com/office/powerpoint/2010/main" val="3455531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8FF295-2376-D7E4-ABBF-2FA82398C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29DFCE5-5E28-D04D-4D76-111B8FB2F4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487680-420F-9F4A-E703-AD66ADAA0C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DE9194-0F60-4F85-9920-102CF88B2AD7}" type="datetimeFigureOut">
              <a:rPr lang="en-GB" smtClean="0"/>
              <a:t>26/12/2024</a:t>
            </a:fld>
            <a:endParaRPr lang="en-GB"/>
          </a:p>
        </p:txBody>
      </p:sp>
      <p:sp>
        <p:nvSpPr>
          <p:cNvPr id="5" name="Footer Placeholder 4">
            <a:extLst>
              <a:ext uri="{FF2B5EF4-FFF2-40B4-BE49-F238E27FC236}">
                <a16:creationId xmlns:a16="http://schemas.microsoft.com/office/drawing/2014/main" id="{F272809C-653F-9E1E-A030-62EB357F79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9241902-1470-59BA-C39A-DA58BC009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16AEF5-0FC4-441F-B8C4-F1BAF6225062}" type="slidenum">
              <a:rPr lang="en-GB" smtClean="0"/>
              <a:t>‹#›</a:t>
            </a:fld>
            <a:endParaRPr lang="en-GB"/>
          </a:p>
        </p:txBody>
      </p:sp>
    </p:spTree>
    <p:extLst>
      <p:ext uri="{BB962C8B-B14F-4D97-AF65-F5344CB8AC3E}">
        <p14:creationId xmlns:p14="http://schemas.microsoft.com/office/powerpoint/2010/main" val="1554546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CFC142-FD4B-5004-794A-683C659EBC2A}"/>
              </a:ext>
            </a:extLst>
          </p:cNvPr>
          <p:cNvSpPr>
            <a:spLocks noGrp="1"/>
          </p:cNvSpPr>
          <p:nvPr>
            <p:ph type="title"/>
          </p:nvPr>
        </p:nvSpPr>
        <p:spPr/>
        <p:txBody>
          <a:bodyPr/>
          <a:lstStyle/>
          <a:p>
            <a:r>
              <a:rPr lang="en-US" dirty="0"/>
              <a:t>Llama 1B parameters, return string</a:t>
            </a:r>
            <a:endParaRPr lang="en-GB" dirty="0"/>
          </a:p>
        </p:txBody>
      </p:sp>
      <p:sp>
        <p:nvSpPr>
          <p:cNvPr id="5" name="Content Placeholder 4">
            <a:extLst>
              <a:ext uri="{FF2B5EF4-FFF2-40B4-BE49-F238E27FC236}">
                <a16:creationId xmlns:a16="http://schemas.microsoft.com/office/drawing/2014/main" id="{1DA7E153-F125-10FA-F0AD-DFC5A6F6B543}"/>
              </a:ext>
            </a:extLst>
          </p:cNvPr>
          <p:cNvSpPr>
            <a:spLocks noGrp="1"/>
          </p:cNvSpPr>
          <p:nvPr>
            <p:ph idx="1"/>
          </p:nvPr>
        </p:nvSpPr>
        <p:spPr>
          <a:xfrm>
            <a:off x="838200" y="1825625"/>
            <a:ext cx="5334000" cy="4351338"/>
          </a:xfrm>
        </p:spPr>
        <p:txBody>
          <a:bodyPr/>
          <a:lstStyle/>
          <a:p>
            <a:r>
              <a:rPr lang="en-GB" dirty="0"/>
              <a:t>Failed to detect emotion in 3854 sentences</a:t>
            </a:r>
          </a:p>
          <a:p>
            <a:pPr lvl="1"/>
            <a:r>
              <a:rPr lang="en-GB" dirty="0"/>
              <a:t>Setting to neutral</a:t>
            </a:r>
          </a:p>
          <a:p>
            <a:r>
              <a:rPr lang="en-GB" dirty="0"/>
              <a:t>Balanced Accuracy: 0.1696</a:t>
            </a:r>
          </a:p>
          <a:p>
            <a:r>
              <a:rPr lang="en-GB" dirty="0"/>
              <a:t>Accuracy: 0.2208</a:t>
            </a:r>
          </a:p>
        </p:txBody>
      </p:sp>
      <p:pic>
        <p:nvPicPr>
          <p:cNvPr id="7" name="Picture 6" descr="A chart with blue squares and white text&#10;&#10;Description automatically generated with medium confidence">
            <a:extLst>
              <a:ext uri="{FF2B5EF4-FFF2-40B4-BE49-F238E27FC236}">
                <a16:creationId xmlns:a16="http://schemas.microsoft.com/office/drawing/2014/main" id="{34FC6410-00B4-8EB3-6988-6F53BDBBF61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10835" r="10551"/>
          <a:stretch/>
        </p:blipFill>
        <p:spPr>
          <a:xfrm>
            <a:off x="6352019" y="1289304"/>
            <a:ext cx="5839981" cy="5568696"/>
          </a:xfrm>
          <a:prstGeom prst="rect">
            <a:avLst/>
          </a:prstGeom>
        </p:spPr>
      </p:pic>
    </p:spTree>
    <p:extLst>
      <p:ext uri="{BB962C8B-B14F-4D97-AF65-F5344CB8AC3E}">
        <p14:creationId xmlns:p14="http://schemas.microsoft.com/office/powerpoint/2010/main" val="3789434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739F-7246-7DC3-FA1E-85F1AD716D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BE9309-BBCB-5246-3843-6182810FA7F3}"/>
              </a:ext>
            </a:extLst>
          </p:cNvPr>
          <p:cNvSpPr>
            <a:spLocks noGrp="1"/>
          </p:cNvSpPr>
          <p:nvPr>
            <p:ph type="title"/>
          </p:nvPr>
        </p:nvSpPr>
        <p:spPr/>
        <p:txBody>
          <a:bodyPr/>
          <a:lstStyle/>
          <a:p>
            <a:r>
              <a:rPr lang="en-US" dirty="0"/>
              <a:t>Llama 1B parameters, return number</a:t>
            </a:r>
            <a:endParaRPr lang="en-GB" dirty="0"/>
          </a:p>
        </p:txBody>
      </p:sp>
      <p:sp>
        <p:nvSpPr>
          <p:cNvPr id="5" name="Content Placeholder 4">
            <a:extLst>
              <a:ext uri="{FF2B5EF4-FFF2-40B4-BE49-F238E27FC236}">
                <a16:creationId xmlns:a16="http://schemas.microsoft.com/office/drawing/2014/main" id="{ACFB0631-4203-7A96-61B0-E0D56301E5B1}"/>
              </a:ext>
            </a:extLst>
          </p:cNvPr>
          <p:cNvSpPr>
            <a:spLocks noGrp="1"/>
          </p:cNvSpPr>
          <p:nvPr>
            <p:ph idx="1"/>
          </p:nvPr>
        </p:nvSpPr>
        <p:spPr>
          <a:xfrm>
            <a:off x="838200" y="1825625"/>
            <a:ext cx="5334000" cy="4351338"/>
          </a:xfrm>
        </p:spPr>
        <p:txBody>
          <a:bodyPr/>
          <a:lstStyle/>
          <a:p>
            <a:r>
              <a:rPr lang="en-GB" dirty="0"/>
              <a:t>Failed to detect emotion in 1493 sentences</a:t>
            </a:r>
          </a:p>
          <a:p>
            <a:pPr lvl="1"/>
            <a:r>
              <a:rPr lang="en-GB" dirty="0"/>
              <a:t>Setting to neutral</a:t>
            </a:r>
          </a:p>
          <a:p>
            <a:r>
              <a:rPr lang="en-GB" dirty="0"/>
              <a:t>Balanced Accuracy: 0.0883</a:t>
            </a:r>
          </a:p>
          <a:p>
            <a:r>
              <a:rPr lang="en-GB" dirty="0"/>
              <a:t>Accuracy: 0.1051</a:t>
            </a:r>
          </a:p>
        </p:txBody>
      </p:sp>
      <p:pic>
        <p:nvPicPr>
          <p:cNvPr id="3" name="Picture 2">
            <a:extLst>
              <a:ext uri="{FF2B5EF4-FFF2-40B4-BE49-F238E27FC236}">
                <a16:creationId xmlns:a16="http://schemas.microsoft.com/office/drawing/2014/main" id="{0EFDDD5D-9E73-F8BC-D0D1-A32A5FA2D24E}"/>
              </a:ext>
            </a:extLst>
          </p:cNvPr>
          <p:cNvPicPr>
            <a:picLocks noChangeAspect="1"/>
          </p:cNvPicPr>
          <p:nvPr/>
        </p:nvPicPr>
        <p:blipFill>
          <a:blip r:embed="rId2"/>
          <a:srcRect r="10900"/>
          <a:stretch/>
        </p:blipFill>
        <p:spPr>
          <a:xfrm>
            <a:off x="6199632" y="1389887"/>
            <a:ext cx="5992368" cy="5044081"/>
          </a:xfrm>
          <a:prstGeom prst="rect">
            <a:avLst/>
          </a:prstGeom>
        </p:spPr>
      </p:pic>
    </p:spTree>
    <p:extLst>
      <p:ext uri="{BB962C8B-B14F-4D97-AF65-F5344CB8AC3E}">
        <p14:creationId xmlns:p14="http://schemas.microsoft.com/office/powerpoint/2010/main" val="148287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CD408-9ADB-EC85-2BB2-92426E561F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1CDB73-A1D9-CD09-9064-E54E5CEACB6B}"/>
              </a:ext>
            </a:extLst>
          </p:cNvPr>
          <p:cNvSpPr>
            <a:spLocks noGrp="1"/>
          </p:cNvSpPr>
          <p:nvPr>
            <p:ph type="title"/>
          </p:nvPr>
        </p:nvSpPr>
        <p:spPr/>
        <p:txBody>
          <a:bodyPr/>
          <a:lstStyle/>
          <a:p>
            <a:r>
              <a:rPr lang="en-US" dirty="0"/>
              <a:t>Llama 3B parameters (Q4), return number</a:t>
            </a:r>
            <a:endParaRPr lang="en-GB" dirty="0"/>
          </a:p>
        </p:txBody>
      </p:sp>
      <p:sp>
        <p:nvSpPr>
          <p:cNvPr id="5" name="Content Placeholder 4">
            <a:extLst>
              <a:ext uri="{FF2B5EF4-FFF2-40B4-BE49-F238E27FC236}">
                <a16:creationId xmlns:a16="http://schemas.microsoft.com/office/drawing/2014/main" id="{54F3203D-425A-CE31-0B2C-0E8EE771E2F2}"/>
              </a:ext>
            </a:extLst>
          </p:cNvPr>
          <p:cNvSpPr>
            <a:spLocks noGrp="1"/>
          </p:cNvSpPr>
          <p:nvPr>
            <p:ph idx="1"/>
          </p:nvPr>
        </p:nvSpPr>
        <p:spPr>
          <a:xfrm>
            <a:off x="838200" y="1825625"/>
            <a:ext cx="5334000" cy="4351338"/>
          </a:xfrm>
        </p:spPr>
        <p:txBody>
          <a:bodyPr/>
          <a:lstStyle/>
          <a:p>
            <a:r>
              <a:rPr lang="en-GB" dirty="0"/>
              <a:t>Failed to detect emotion in 2 sentences</a:t>
            </a:r>
          </a:p>
          <a:p>
            <a:pPr lvl="1"/>
            <a:r>
              <a:rPr lang="en-GB" dirty="0"/>
              <a:t>Setting to neutral</a:t>
            </a:r>
          </a:p>
          <a:p>
            <a:r>
              <a:rPr lang="en-GB" dirty="0"/>
              <a:t>Balanced Accuracy: 0.1566</a:t>
            </a:r>
          </a:p>
          <a:p>
            <a:r>
              <a:rPr lang="en-GB" dirty="0"/>
              <a:t>Accuracy: 0.1800</a:t>
            </a:r>
          </a:p>
        </p:txBody>
      </p:sp>
      <p:pic>
        <p:nvPicPr>
          <p:cNvPr id="6" name="Picture 5">
            <a:extLst>
              <a:ext uri="{FF2B5EF4-FFF2-40B4-BE49-F238E27FC236}">
                <a16:creationId xmlns:a16="http://schemas.microsoft.com/office/drawing/2014/main" id="{4885B588-B049-D3FB-201B-38C182B0795E}"/>
              </a:ext>
            </a:extLst>
          </p:cNvPr>
          <p:cNvPicPr>
            <a:picLocks noChangeAspect="1"/>
          </p:cNvPicPr>
          <p:nvPr/>
        </p:nvPicPr>
        <p:blipFill>
          <a:blip r:embed="rId2"/>
          <a:srcRect r="10350"/>
          <a:stretch/>
        </p:blipFill>
        <p:spPr>
          <a:xfrm>
            <a:off x="5964936" y="1310828"/>
            <a:ext cx="6227064" cy="5209479"/>
          </a:xfrm>
          <a:prstGeom prst="rect">
            <a:avLst/>
          </a:prstGeom>
        </p:spPr>
      </p:pic>
    </p:spTree>
    <p:extLst>
      <p:ext uri="{BB962C8B-B14F-4D97-AF65-F5344CB8AC3E}">
        <p14:creationId xmlns:p14="http://schemas.microsoft.com/office/powerpoint/2010/main" val="260356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A05C-5379-0FBB-A9CD-F37975ADA6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77D5DB-C2ED-B8E6-2A14-CC188B8CD674}"/>
              </a:ext>
            </a:extLst>
          </p:cNvPr>
          <p:cNvSpPr>
            <a:spLocks noGrp="1"/>
          </p:cNvSpPr>
          <p:nvPr>
            <p:ph type="title"/>
          </p:nvPr>
        </p:nvSpPr>
        <p:spPr/>
        <p:txBody>
          <a:bodyPr/>
          <a:lstStyle/>
          <a:p>
            <a:r>
              <a:rPr lang="en-US" dirty="0"/>
              <a:t>Llama 3B parameters (Q8), return number</a:t>
            </a:r>
            <a:endParaRPr lang="en-GB" dirty="0"/>
          </a:p>
        </p:txBody>
      </p:sp>
      <p:sp>
        <p:nvSpPr>
          <p:cNvPr id="5" name="Content Placeholder 4">
            <a:extLst>
              <a:ext uri="{FF2B5EF4-FFF2-40B4-BE49-F238E27FC236}">
                <a16:creationId xmlns:a16="http://schemas.microsoft.com/office/drawing/2014/main" id="{D7A740AB-0A94-8C53-3E06-FFA33D85F7AE}"/>
              </a:ext>
            </a:extLst>
          </p:cNvPr>
          <p:cNvSpPr>
            <a:spLocks noGrp="1"/>
          </p:cNvSpPr>
          <p:nvPr>
            <p:ph idx="1"/>
          </p:nvPr>
        </p:nvSpPr>
        <p:spPr>
          <a:xfrm>
            <a:off x="838200" y="1825625"/>
            <a:ext cx="5334000" cy="4351338"/>
          </a:xfrm>
        </p:spPr>
        <p:txBody>
          <a:bodyPr/>
          <a:lstStyle/>
          <a:p>
            <a:r>
              <a:rPr lang="en-GB" dirty="0"/>
              <a:t>Failed to detect emotion in 4 sentences</a:t>
            </a:r>
          </a:p>
          <a:p>
            <a:pPr lvl="1"/>
            <a:r>
              <a:rPr lang="en-GB" dirty="0"/>
              <a:t>Setting to neutral</a:t>
            </a:r>
          </a:p>
          <a:p>
            <a:r>
              <a:rPr lang="en-GB" dirty="0"/>
              <a:t>Balanced Accuracy: 0.1737</a:t>
            </a:r>
          </a:p>
          <a:p>
            <a:r>
              <a:rPr lang="en-GB" dirty="0"/>
              <a:t>Accuracy: 0.2240</a:t>
            </a:r>
          </a:p>
        </p:txBody>
      </p:sp>
      <p:pic>
        <p:nvPicPr>
          <p:cNvPr id="3" name="Picture 2">
            <a:extLst>
              <a:ext uri="{FF2B5EF4-FFF2-40B4-BE49-F238E27FC236}">
                <a16:creationId xmlns:a16="http://schemas.microsoft.com/office/drawing/2014/main" id="{24464ADC-74D5-EB49-6A78-5A17B572A8A9}"/>
              </a:ext>
            </a:extLst>
          </p:cNvPr>
          <p:cNvPicPr>
            <a:picLocks noChangeAspect="1"/>
          </p:cNvPicPr>
          <p:nvPr/>
        </p:nvPicPr>
        <p:blipFill>
          <a:blip r:embed="rId2"/>
          <a:srcRect r="10950"/>
          <a:stretch/>
        </p:blipFill>
        <p:spPr>
          <a:xfrm>
            <a:off x="5952744" y="1316736"/>
            <a:ext cx="6239256" cy="5254848"/>
          </a:xfrm>
          <a:prstGeom prst="rect">
            <a:avLst/>
          </a:prstGeom>
        </p:spPr>
      </p:pic>
    </p:spTree>
    <p:extLst>
      <p:ext uri="{BB962C8B-B14F-4D97-AF65-F5344CB8AC3E}">
        <p14:creationId xmlns:p14="http://schemas.microsoft.com/office/powerpoint/2010/main" val="239893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3CE62-4A44-A952-091E-7B80A96FDE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70C4F7-D853-9443-9EFE-4E8EBB3F4063}"/>
              </a:ext>
            </a:extLst>
          </p:cNvPr>
          <p:cNvSpPr>
            <a:spLocks noGrp="1"/>
          </p:cNvSpPr>
          <p:nvPr>
            <p:ph type="title"/>
          </p:nvPr>
        </p:nvSpPr>
        <p:spPr/>
        <p:txBody>
          <a:bodyPr/>
          <a:lstStyle/>
          <a:p>
            <a:r>
              <a:rPr lang="en-US" dirty="0"/>
              <a:t>Llama 8B parameters, return string</a:t>
            </a:r>
            <a:endParaRPr lang="en-GB" dirty="0"/>
          </a:p>
        </p:txBody>
      </p:sp>
      <p:sp>
        <p:nvSpPr>
          <p:cNvPr id="5" name="Content Placeholder 4">
            <a:extLst>
              <a:ext uri="{FF2B5EF4-FFF2-40B4-BE49-F238E27FC236}">
                <a16:creationId xmlns:a16="http://schemas.microsoft.com/office/drawing/2014/main" id="{F4B6159C-F83C-826F-F987-9D9269F15A24}"/>
              </a:ext>
            </a:extLst>
          </p:cNvPr>
          <p:cNvSpPr>
            <a:spLocks noGrp="1"/>
          </p:cNvSpPr>
          <p:nvPr>
            <p:ph idx="1"/>
          </p:nvPr>
        </p:nvSpPr>
        <p:spPr>
          <a:xfrm>
            <a:off x="838200" y="1825625"/>
            <a:ext cx="5334000" cy="4351338"/>
          </a:xfrm>
        </p:spPr>
        <p:txBody>
          <a:bodyPr/>
          <a:lstStyle/>
          <a:p>
            <a:r>
              <a:rPr lang="en-GB" dirty="0"/>
              <a:t>Failed to detect emotion in 1609 sentences</a:t>
            </a:r>
          </a:p>
          <a:p>
            <a:pPr lvl="1"/>
            <a:r>
              <a:rPr lang="en-GB" dirty="0"/>
              <a:t>Setting to neutral</a:t>
            </a:r>
          </a:p>
          <a:p>
            <a:r>
              <a:rPr lang="en-GB" dirty="0"/>
              <a:t>Balanced Accuracy: 0.2159</a:t>
            </a:r>
          </a:p>
          <a:p>
            <a:r>
              <a:rPr lang="en-GB" dirty="0"/>
              <a:t>Accuracy: 0.2769</a:t>
            </a:r>
          </a:p>
        </p:txBody>
      </p:sp>
      <p:pic>
        <p:nvPicPr>
          <p:cNvPr id="3" name="Picture 2" descr="A graph of emotions and negatives&#10;&#10;Description automatically generated with medium confidence">
            <a:extLst>
              <a:ext uri="{FF2B5EF4-FFF2-40B4-BE49-F238E27FC236}">
                <a16:creationId xmlns:a16="http://schemas.microsoft.com/office/drawing/2014/main" id="{2A653B0C-911B-E7F9-B0BD-D30920233DE0}"/>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11" t="10835" r="11716"/>
          <a:stretch/>
        </p:blipFill>
        <p:spPr>
          <a:xfrm>
            <a:off x="6270172" y="1289304"/>
            <a:ext cx="5921828" cy="5568696"/>
          </a:xfrm>
          <a:prstGeom prst="rect">
            <a:avLst/>
          </a:prstGeom>
        </p:spPr>
      </p:pic>
    </p:spTree>
    <p:extLst>
      <p:ext uri="{BB962C8B-B14F-4D97-AF65-F5344CB8AC3E}">
        <p14:creationId xmlns:p14="http://schemas.microsoft.com/office/powerpoint/2010/main" val="248068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597F-39D5-58D2-AD59-5B63CAFF06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516516-CF52-2EF3-BD0D-F4871A8A6E29}"/>
              </a:ext>
            </a:extLst>
          </p:cNvPr>
          <p:cNvSpPr>
            <a:spLocks noGrp="1"/>
          </p:cNvSpPr>
          <p:nvPr>
            <p:ph type="title"/>
          </p:nvPr>
        </p:nvSpPr>
        <p:spPr/>
        <p:txBody>
          <a:bodyPr/>
          <a:lstStyle/>
          <a:p>
            <a:r>
              <a:rPr lang="en-US" dirty="0"/>
              <a:t>Llama 8B parameters, return number</a:t>
            </a:r>
            <a:endParaRPr lang="en-GB" dirty="0"/>
          </a:p>
        </p:txBody>
      </p:sp>
      <p:sp>
        <p:nvSpPr>
          <p:cNvPr id="5" name="Content Placeholder 4">
            <a:extLst>
              <a:ext uri="{FF2B5EF4-FFF2-40B4-BE49-F238E27FC236}">
                <a16:creationId xmlns:a16="http://schemas.microsoft.com/office/drawing/2014/main" id="{FA5A4F46-7657-12B2-BD8E-CED9E14080E7}"/>
              </a:ext>
            </a:extLst>
          </p:cNvPr>
          <p:cNvSpPr>
            <a:spLocks noGrp="1"/>
          </p:cNvSpPr>
          <p:nvPr>
            <p:ph idx="1"/>
          </p:nvPr>
        </p:nvSpPr>
        <p:spPr>
          <a:xfrm>
            <a:off x="838200" y="1825625"/>
            <a:ext cx="5334000" cy="4351338"/>
          </a:xfrm>
        </p:spPr>
        <p:txBody>
          <a:bodyPr/>
          <a:lstStyle/>
          <a:p>
            <a:r>
              <a:rPr lang="en-GB" dirty="0"/>
              <a:t>Failed to detect emotion in x sentences</a:t>
            </a:r>
          </a:p>
          <a:p>
            <a:pPr lvl="1"/>
            <a:r>
              <a:rPr lang="en-GB" dirty="0"/>
              <a:t>Setting to neutral</a:t>
            </a:r>
          </a:p>
          <a:p>
            <a:r>
              <a:rPr lang="en-GB" dirty="0"/>
              <a:t>Balanced Accuracy: 0.yyyy</a:t>
            </a:r>
          </a:p>
          <a:p>
            <a:r>
              <a:rPr lang="en-GB" dirty="0"/>
              <a:t>Accuracy: 0.zzzz</a:t>
            </a:r>
          </a:p>
        </p:txBody>
      </p:sp>
    </p:spTree>
    <p:extLst>
      <p:ext uri="{BB962C8B-B14F-4D97-AF65-F5344CB8AC3E}">
        <p14:creationId xmlns:p14="http://schemas.microsoft.com/office/powerpoint/2010/main" val="2042804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BF7E-D40C-70A7-A26C-5BAE3E0BC901}"/>
              </a:ext>
            </a:extLst>
          </p:cNvPr>
          <p:cNvSpPr>
            <a:spLocks noGrp="1"/>
          </p:cNvSpPr>
          <p:nvPr>
            <p:ph type="title"/>
          </p:nvPr>
        </p:nvSpPr>
        <p:spPr/>
        <p:txBody>
          <a:bodyPr/>
          <a:lstStyle/>
          <a:p>
            <a:r>
              <a:rPr lang="en-US" dirty="0"/>
              <a:t>Prompts</a:t>
            </a:r>
            <a:endParaRPr lang="en-GB" dirty="0"/>
          </a:p>
        </p:txBody>
      </p:sp>
      <p:graphicFrame>
        <p:nvGraphicFramePr>
          <p:cNvPr id="7" name="Content Placeholder 6">
            <a:extLst>
              <a:ext uri="{FF2B5EF4-FFF2-40B4-BE49-F238E27FC236}">
                <a16:creationId xmlns:a16="http://schemas.microsoft.com/office/drawing/2014/main" id="{38D25808-8B9B-A7C7-903D-B88B86326966}"/>
              </a:ext>
            </a:extLst>
          </p:cNvPr>
          <p:cNvGraphicFramePr>
            <a:graphicFrameLocks noGrp="1"/>
          </p:cNvGraphicFramePr>
          <p:nvPr>
            <p:ph idx="1"/>
            <p:extLst>
              <p:ext uri="{D42A27DB-BD31-4B8C-83A1-F6EECF244321}">
                <p14:modId xmlns:p14="http://schemas.microsoft.com/office/powerpoint/2010/main" val="155101259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3132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75A7-3020-2B7D-B3E9-75EE669D065C}"/>
              </a:ext>
            </a:extLst>
          </p:cNvPr>
          <p:cNvSpPr>
            <a:spLocks noGrp="1"/>
          </p:cNvSpPr>
          <p:nvPr>
            <p:ph type="title"/>
          </p:nvPr>
        </p:nvSpPr>
        <p:spPr/>
        <p:txBody>
          <a:bodyPr/>
          <a:lstStyle/>
          <a:p>
            <a:r>
              <a:rPr lang="en-US" dirty="0"/>
              <a:t>Comparison</a:t>
            </a:r>
            <a:endParaRPr lang="en-GB" dirty="0"/>
          </a:p>
        </p:txBody>
      </p:sp>
      <p:graphicFrame>
        <p:nvGraphicFramePr>
          <p:cNvPr id="4" name="Content Placeholder 3">
            <a:extLst>
              <a:ext uri="{FF2B5EF4-FFF2-40B4-BE49-F238E27FC236}">
                <a16:creationId xmlns:a16="http://schemas.microsoft.com/office/drawing/2014/main" id="{5A746D53-7395-B1C2-C58E-4B27D356D817}"/>
              </a:ext>
            </a:extLst>
          </p:cNvPr>
          <p:cNvGraphicFramePr>
            <a:graphicFrameLocks noGrp="1"/>
          </p:cNvGraphicFramePr>
          <p:nvPr>
            <p:ph idx="1"/>
            <p:extLst>
              <p:ext uri="{D42A27DB-BD31-4B8C-83A1-F6EECF244321}">
                <p14:modId xmlns:p14="http://schemas.microsoft.com/office/powerpoint/2010/main" val="2016923969"/>
              </p:ext>
            </p:extLst>
          </p:nvPr>
        </p:nvGraphicFramePr>
        <p:xfrm>
          <a:off x="838200" y="1811020"/>
          <a:ext cx="6358128" cy="3977640"/>
        </p:xfrm>
        <a:graphic>
          <a:graphicData uri="http://schemas.openxmlformats.org/drawingml/2006/table">
            <a:tbl>
              <a:tblPr firstRow="1" bandRow="1">
                <a:tableStyleId>{5C22544A-7EE6-4342-B048-85BDC9FD1C3A}</a:tableStyleId>
              </a:tblPr>
              <a:tblGrid>
                <a:gridCol w="1210056">
                  <a:extLst>
                    <a:ext uri="{9D8B030D-6E8A-4147-A177-3AD203B41FA5}">
                      <a16:colId xmlns:a16="http://schemas.microsoft.com/office/drawing/2014/main" val="1726988023"/>
                    </a:ext>
                  </a:extLst>
                </a:gridCol>
                <a:gridCol w="1243584">
                  <a:extLst>
                    <a:ext uri="{9D8B030D-6E8A-4147-A177-3AD203B41FA5}">
                      <a16:colId xmlns:a16="http://schemas.microsoft.com/office/drawing/2014/main" val="1135325648"/>
                    </a:ext>
                  </a:extLst>
                </a:gridCol>
                <a:gridCol w="1453896">
                  <a:extLst>
                    <a:ext uri="{9D8B030D-6E8A-4147-A177-3AD203B41FA5}">
                      <a16:colId xmlns:a16="http://schemas.microsoft.com/office/drawing/2014/main" val="3220758164"/>
                    </a:ext>
                  </a:extLst>
                </a:gridCol>
                <a:gridCol w="1216152">
                  <a:extLst>
                    <a:ext uri="{9D8B030D-6E8A-4147-A177-3AD203B41FA5}">
                      <a16:colId xmlns:a16="http://schemas.microsoft.com/office/drawing/2014/main" val="2870762164"/>
                    </a:ext>
                  </a:extLst>
                </a:gridCol>
                <a:gridCol w="1234440">
                  <a:extLst>
                    <a:ext uri="{9D8B030D-6E8A-4147-A177-3AD203B41FA5}">
                      <a16:colId xmlns:a16="http://schemas.microsoft.com/office/drawing/2014/main" val="567693613"/>
                    </a:ext>
                  </a:extLst>
                </a:gridCol>
              </a:tblGrid>
              <a:tr h="370840">
                <a:tc>
                  <a:txBody>
                    <a:bodyPr/>
                    <a:lstStyle/>
                    <a:p>
                      <a:r>
                        <a:rPr lang="en-US" dirty="0"/>
                        <a:t>Model</a:t>
                      </a:r>
                      <a:endParaRPr lang="en-GB" dirty="0"/>
                    </a:p>
                  </a:txBody>
                  <a:tcPr/>
                </a:tc>
                <a:tc>
                  <a:txBody>
                    <a:bodyPr/>
                    <a:lstStyle/>
                    <a:p>
                      <a:r>
                        <a:rPr lang="en-US" dirty="0"/>
                        <a:t>Prompt</a:t>
                      </a:r>
                      <a:endParaRPr lang="en-GB" dirty="0"/>
                    </a:p>
                  </a:txBody>
                  <a:tcPr/>
                </a:tc>
                <a:tc>
                  <a:txBody>
                    <a:bodyPr/>
                    <a:lstStyle/>
                    <a:p>
                      <a:r>
                        <a:rPr lang="en-US" dirty="0"/>
                        <a:t>Phrases not detected</a:t>
                      </a:r>
                      <a:endParaRPr lang="en-GB" dirty="0"/>
                    </a:p>
                  </a:txBody>
                  <a:tcPr/>
                </a:tc>
                <a:tc>
                  <a:txBody>
                    <a:bodyPr/>
                    <a:lstStyle/>
                    <a:p>
                      <a:r>
                        <a:rPr lang="en-US" dirty="0"/>
                        <a:t>Accuracy</a:t>
                      </a:r>
                      <a:endParaRPr lang="en-GB" dirty="0"/>
                    </a:p>
                  </a:txBody>
                  <a:tcPr/>
                </a:tc>
                <a:tc>
                  <a:txBody>
                    <a:bodyPr/>
                    <a:lstStyle/>
                    <a:p>
                      <a:r>
                        <a:rPr lang="en-US" dirty="0"/>
                        <a:t>Balanced accuracy</a:t>
                      </a:r>
                      <a:endParaRPr lang="en-GB" dirty="0"/>
                    </a:p>
                  </a:txBody>
                  <a:tcPr/>
                </a:tc>
                <a:extLst>
                  <a:ext uri="{0D108BD9-81ED-4DB2-BD59-A6C34878D82A}">
                    <a16:rowId xmlns:a16="http://schemas.microsoft.com/office/drawing/2014/main" val="3826120764"/>
                  </a:ext>
                </a:extLst>
              </a:tr>
              <a:tr h="370840">
                <a:tc>
                  <a:txBody>
                    <a:bodyPr/>
                    <a:lstStyle/>
                    <a:p>
                      <a:r>
                        <a:rPr lang="en-US" dirty="0"/>
                        <a:t>1B@Q8</a:t>
                      </a:r>
                      <a:endParaRPr lang="en-GB" dirty="0"/>
                    </a:p>
                  </a:txBody>
                  <a:tcPr/>
                </a:tc>
                <a:tc>
                  <a:txBody>
                    <a:bodyPr/>
                    <a:lstStyle/>
                    <a:p>
                      <a:r>
                        <a:rPr lang="en-US" dirty="0"/>
                        <a:t>Reason</a:t>
                      </a:r>
                      <a:endParaRPr lang="en-GB" dirty="0"/>
                    </a:p>
                  </a:txBody>
                  <a:tcPr/>
                </a:tc>
                <a:tc>
                  <a:txBody>
                    <a:bodyPr/>
                    <a:lstStyle/>
                    <a:p>
                      <a:r>
                        <a:rPr lang="en-US" dirty="0"/>
                        <a:t>3854</a:t>
                      </a:r>
                      <a:endParaRPr lang="en-GB" dirty="0"/>
                    </a:p>
                  </a:txBody>
                  <a:tcPr/>
                </a:tc>
                <a:tc>
                  <a:txBody>
                    <a:bodyPr/>
                    <a:lstStyle/>
                    <a:p>
                      <a:r>
                        <a:rPr lang="en-GB" dirty="0"/>
                        <a:t>0.2208</a:t>
                      </a:r>
                    </a:p>
                  </a:txBody>
                  <a:tcPr/>
                </a:tc>
                <a:tc>
                  <a:txBody>
                    <a:bodyPr/>
                    <a:lstStyle/>
                    <a:p>
                      <a:r>
                        <a:rPr lang="en-GB" dirty="0"/>
                        <a:t>0.1696</a:t>
                      </a:r>
                    </a:p>
                  </a:txBody>
                  <a:tcPr/>
                </a:tc>
                <a:extLst>
                  <a:ext uri="{0D108BD9-81ED-4DB2-BD59-A6C34878D82A}">
                    <a16:rowId xmlns:a16="http://schemas.microsoft.com/office/drawing/2014/main" val="35056660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1B@Q8</a:t>
                      </a:r>
                      <a:endParaRPr lang="en-GB" dirty="0"/>
                    </a:p>
                  </a:txBody>
                  <a:tcPr/>
                </a:tc>
                <a:tc>
                  <a:txBody>
                    <a:bodyPr/>
                    <a:lstStyle/>
                    <a:p>
                      <a:r>
                        <a:rPr lang="en-US" dirty="0"/>
                        <a:t>Text</a:t>
                      </a:r>
                      <a:endParaRPr lang="en-GB" dirty="0"/>
                    </a:p>
                  </a:txBody>
                  <a:tcPr/>
                </a:tc>
                <a:tc>
                  <a:txBody>
                    <a:bodyPr/>
                    <a:lstStyle/>
                    <a:p>
                      <a:r>
                        <a:rPr lang="en-US" dirty="0"/>
                        <a:t>195</a:t>
                      </a:r>
                      <a:endParaRPr lang="en-GB" dirty="0"/>
                    </a:p>
                  </a:txBody>
                  <a:tcPr/>
                </a:tc>
                <a:tc>
                  <a:txBody>
                    <a:bodyPr/>
                    <a:lstStyle/>
                    <a:p>
                      <a:r>
                        <a:rPr lang="en-GB" dirty="0"/>
                        <a:t>0.2158</a:t>
                      </a:r>
                    </a:p>
                  </a:txBody>
                  <a:tcPr/>
                </a:tc>
                <a:tc>
                  <a:txBody>
                    <a:bodyPr/>
                    <a:lstStyle/>
                    <a:p>
                      <a:r>
                        <a:rPr lang="en-GB" dirty="0"/>
                        <a:t>0.0772</a:t>
                      </a:r>
                    </a:p>
                  </a:txBody>
                  <a:tcPr/>
                </a:tc>
                <a:extLst>
                  <a:ext uri="{0D108BD9-81ED-4DB2-BD59-A6C34878D82A}">
                    <a16:rowId xmlns:a16="http://schemas.microsoft.com/office/drawing/2014/main" val="1926269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1B@Q8</a:t>
                      </a:r>
                      <a:endParaRPr lang="en-GB" dirty="0"/>
                    </a:p>
                  </a:txBody>
                  <a:tcPr/>
                </a:tc>
                <a:tc>
                  <a:txBody>
                    <a:bodyPr/>
                    <a:lstStyle/>
                    <a:p>
                      <a:r>
                        <a:rPr lang="en-US" dirty="0"/>
                        <a:t>Number</a:t>
                      </a:r>
                      <a:endParaRPr lang="en-GB" dirty="0"/>
                    </a:p>
                  </a:txBody>
                  <a:tcPr/>
                </a:tc>
                <a:tc>
                  <a:txBody>
                    <a:bodyPr/>
                    <a:lstStyle/>
                    <a:p>
                      <a:r>
                        <a:rPr lang="en-US" dirty="0"/>
                        <a:t>1502</a:t>
                      </a:r>
                      <a:endParaRPr lang="en-GB" dirty="0"/>
                    </a:p>
                  </a:txBody>
                  <a:tcPr/>
                </a:tc>
                <a:tc>
                  <a:txBody>
                    <a:bodyPr/>
                    <a:lstStyle/>
                    <a:p>
                      <a:r>
                        <a:rPr lang="en-GB" dirty="0"/>
                        <a:t>0.1050</a:t>
                      </a:r>
                    </a:p>
                  </a:txBody>
                  <a:tcPr/>
                </a:tc>
                <a:tc>
                  <a:txBody>
                    <a:bodyPr/>
                    <a:lstStyle/>
                    <a:p>
                      <a:r>
                        <a:rPr lang="en-GB" dirty="0"/>
                        <a:t>0.0882</a:t>
                      </a:r>
                    </a:p>
                  </a:txBody>
                  <a:tcPr/>
                </a:tc>
                <a:extLst>
                  <a:ext uri="{0D108BD9-81ED-4DB2-BD59-A6C34878D82A}">
                    <a16:rowId xmlns:a16="http://schemas.microsoft.com/office/drawing/2014/main" val="2187039807"/>
                  </a:ext>
                </a:extLst>
              </a:tr>
              <a:tr h="370840">
                <a:tc>
                  <a:txBody>
                    <a:bodyPr/>
                    <a:lstStyle/>
                    <a:p>
                      <a:r>
                        <a:rPr lang="en-US" dirty="0"/>
                        <a:t>3B@Q4</a:t>
                      </a:r>
                      <a:endParaRPr lang="en-GB" dirty="0"/>
                    </a:p>
                  </a:txBody>
                  <a:tcPr/>
                </a:tc>
                <a:tc>
                  <a:txBody>
                    <a:bodyPr/>
                    <a:lstStyle/>
                    <a:p>
                      <a:r>
                        <a:rPr lang="en-US" dirty="0"/>
                        <a:t>Number</a:t>
                      </a:r>
                      <a:endParaRPr lang="en-GB" dirty="0"/>
                    </a:p>
                  </a:txBody>
                  <a:tcPr/>
                </a:tc>
                <a:tc>
                  <a:txBody>
                    <a:bodyPr/>
                    <a:lstStyle/>
                    <a:p>
                      <a:r>
                        <a:rPr lang="en-US" dirty="0"/>
                        <a:t>4</a:t>
                      </a:r>
                      <a:endParaRPr lang="en-GB" dirty="0"/>
                    </a:p>
                  </a:txBody>
                  <a:tcPr/>
                </a:tc>
                <a:tc>
                  <a:txBody>
                    <a:bodyPr/>
                    <a:lstStyle/>
                    <a:p>
                      <a:r>
                        <a:rPr lang="en-GB" dirty="0"/>
                        <a:t>0.1800</a:t>
                      </a:r>
                    </a:p>
                  </a:txBody>
                  <a:tcPr/>
                </a:tc>
                <a:tc>
                  <a:txBody>
                    <a:bodyPr/>
                    <a:lstStyle/>
                    <a:p>
                      <a:r>
                        <a:rPr lang="en-GB" dirty="0"/>
                        <a:t>0.1566</a:t>
                      </a:r>
                    </a:p>
                  </a:txBody>
                  <a:tcPr/>
                </a:tc>
                <a:extLst>
                  <a:ext uri="{0D108BD9-81ED-4DB2-BD59-A6C34878D82A}">
                    <a16:rowId xmlns:a16="http://schemas.microsoft.com/office/drawing/2014/main" val="1725603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3B@Q8</a:t>
                      </a:r>
                      <a:endParaRPr lang="en-GB" dirty="0"/>
                    </a:p>
                  </a:txBody>
                  <a:tcPr/>
                </a:tc>
                <a:tc>
                  <a:txBody>
                    <a:bodyPr/>
                    <a:lstStyle/>
                    <a:p>
                      <a:r>
                        <a:rPr lang="en-US" dirty="0"/>
                        <a:t>Text</a:t>
                      </a:r>
                      <a:endParaRPr lang="en-GB" dirty="0"/>
                    </a:p>
                  </a:txBody>
                  <a:tcPr/>
                </a:tc>
                <a:tc>
                  <a:txBody>
                    <a:bodyPr/>
                    <a:lstStyle/>
                    <a:p>
                      <a:r>
                        <a:rPr lang="en-GB" dirty="0"/>
                        <a:t>4563</a:t>
                      </a:r>
                    </a:p>
                  </a:txBody>
                  <a:tcPr/>
                </a:tc>
                <a:tc>
                  <a:txBody>
                    <a:bodyPr/>
                    <a:lstStyle/>
                    <a:p>
                      <a:r>
                        <a:rPr lang="en-GB" dirty="0"/>
                        <a:t>0.2354</a:t>
                      </a:r>
                    </a:p>
                  </a:txBody>
                  <a:tcPr/>
                </a:tc>
                <a:tc>
                  <a:txBody>
                    <a:bodyPr/>
                    <a:lstStyle/>
                    <a:p>
                      <a:r>
                        <a:rPr lang="en-GB" dirty="0"/>
                        <a:t>0.1734</a:t>
                      </a:r>
                    </a:p>
                  </a:txBody>
                  <a:tcPr/>
                </a:tc>
                <a:extLst>
                  <a:ext uri="{0D108BD9-81ED-4DB2-BD59-A6C34878D82A}">
                    <a16:rowId xmlns:a16="http://schemas.microsoft.com/office/drawing/2014/main" val="1026528306"/>
                  </a:ext>
                </a:extLst>
              </a:tr>
              <a:tr h="370840">
                <a:tc>
                  <a:txBody>
                    <a:bodyPr/>
                    <a:lstStyle/>
                    <a:p>
                      <a:r>
                        <a:rPr lang="en-US" dirty="0"/>
                        <a:t>3B@Q8</a:t>
                      </a:r>
                      <a:endParaRPr lang="en-GB" dirty="0"/>
                    </a:p>
                  </a:txBody>
                  <a:tcPr/>
                </a:tc>
                <a:tc>
                  <a:txBody>
                    <a:bodyPr/>
                    <a:lstStyle/>
                    <a:p>
                      <a:r>
                        <a:rPr lang="en-US" dirty="0"/>
                        <a:t>Number</a:t>
                      </a:r>
                      <a:endParaRPr lang="en-GB" dirty="0"/>
                    </a:p>
                  </a:txBody>
                  <a:tcPr/>
                </a:tc>
                <a:tc>
                  <a:txBody>
                    <a:bodyPr/>
                    <a:lstStyle/>
                    <a:p>
                      <a:r>
                        <a:rPr lang="en-US" dirty="0"/>
                        <a:t>1</a:t>
                      </a:r>
                      <a:endParaRPr lang="en-GB" dirty="0"/>
                    </a:p>
                  </a:txBody>
                  <a:tcPr/>
                </a:tc>
                <a:tc>
                  <a:txBody>
                    <a:bodyPr/>
                    <a:lstStyle/>
                    <a:p>
                      <a:r>
                        <a:rPr lang="en-GB" dirty="0"/>
                        <a:t>0.2240</a:t>
                      </a:r>
                    </a:p>
                  </a:txBody>
                  <a:tcPr/>
                </a:tc>
                <a:tc>
                  <a:txBody>
                    <a:bodyPr/>
                    <a:lstStyle/>
                    <a:p>
                      <a:r>
                        <a:rPr lang="en-GB" dirty="0"/>
                        <a:t>0.1737</a:t>
                      </a:r>
                    </a:p>
                  </a:txBody>
                  <a:tcPr/>
                </a:tc>
                <a:extLst>
                  <a:ext uri="{0D108BD9-81ED-4DB2-BD59-A6C34878D82A}">
                    <a16:rowId xmlns:a16="http://schemas.microsoft.com/office/drawing/2014/main" val="2592833027"/>
                  </a:ext>
                </a:extLst>
              </a:tr>
              <a:tr h="370840">
                <a:tc>
                  <a:txBody>
                    <a:bodyPr/>
                    <a:lstStyle/>
                    <a:p>
                      <a:r>
                        <a:rPr lang="en-US" dirty="0"/>
                        <a:t>8B@Q4</a:t>
                      </a:r>
                      <a:endParaRPr lang="en-GB" dirty="0"/>
                    </a:p>
                  </a:txBody>
                  <a:tcPr/>
                </a:tc>
                <a:tc>
                  <a:txBody>
                    <a:bodyPr/>
                    <a:lstStyle/>
                    <a:p>
                      <a:r>
                        <a:rPr lang="en-US" dirty="0"/>
                        <a:t>Reason</a:t>
                      </a:r>
                      <a:endParaRPr lang="en-GB" dirty="0"/>
                    </a:p>
                  </a:txBody>
                  <a:tcPr/>
                </a:tc>
                <a:tc>
                  <a:txBody>
                    <a:bodyPr/>
                    <a:lstStyle/>
                    <a:p>
                      <a:r>
                        <a:rPr lang="en-US" dirty="0"/>
                        <a:t>1609</a:t>
                      </a:r>
                      <a:endParaRPr lang="en-GB" dirty="0"/>
                    </a:p>
                  </a:txBody>
                  <a:tcPr/>
                </a:tc>
                <a:tc>
                  <a:txBody>
                    <a:bodyPr/>
                    <a:lstStyle/>
                    <a:p>
                      <a:r>
                        <a:rPr lang="en-GB" dirty="0"/>
                        <a:t>0.2769</a:t>
                      </a:r>
                    </a:p>
                  </a:txBody>
                  <a:tcPr/>
                </a:tc>
                <a:tc>
                  <a:txBody>
                    <a:bodyPr/>
                    <a:lstStyle/>
                    <a:p>
                      <a:r>
                        <a:rPr lang="en-GB" dirty="0"/>
                        <a:t>0.2159</a:t>
                      </a:r>
                    </a:p>
                  </a:txBody>
                  <a:tcPr/>
                </a:tc>
                <a:extLst>
                  <a:ext uri="{0D108BD9-81ED-4DB2-BD59-A6C34878D82A}">
                    <a16:rowId xmlns:a16="http://schemas.microsoft.com/office/drawing/2014/main" val="1599319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8B@Q4</a:t>
                      </a:r>
                      <a:endParaRPr lang="en-GB" dirty="0"/>
                    </a:p>
                  </a:txBody>
                  <a:tcPr/>
                </a:tc>
                <a:tc>
                  <a:txBody>
                    <a:bodyPr/>
                    <a:lstStyle/>
                    <a:p>
                      <a:r>
                        <a:rPr lang="en-US" dirty="0"/>
                        <a:t>Text</a:t>
                      </a:r>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972762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8B@Q4</a:t>
                      </a:r>
                      <a:endParaRPr lang="en-GB" dirty="0"/>
                    </a:p>
                  </a:txBody>
                  <a:tcPr/>
                </a:tc>
                <a:tc>
                  <a:txBody>
                    <a:bodyPr/>
                    <a:lstStyle/>
                    <a:p>
                      <a:r>
                        <a:rPr lang="en-US" dirty="0"/>
                        <a:t>Number</a:t>
                      </a:r>
                      <a:endParaRPr lang="en-GB" dirty="0"/>
                    </a:p>
                  </a:txBody>
                  <a:tcPr/>
                </a:tc>
                <a:tc>
                  <a:txBody>
                    <a:bodyPr/>
                    <a:lstStyle/>
                    <a:p>
                      <a:r>
                        <a:rPr lang="en-US" dirty="0"/>
                        <a:t>307</a:t>
                      </a:r>
                      <a:endParaRPr lang="en-GB" dirty="0"/>
                    </a:p>
                  </a:txBody>
                  <a:tcPr/>
                </a:tc>
                <a:tc>
                  <a:txBody>
                    <a:bodyPr/>
                    <a:lstStyle/>
                    <a:p>
                      <a:r>
                        <a:rPr lang="en-US" dirty="0"/>
                        <a:t>0.2449</a:t>
                      </a:r>
                      <a:endParaRPr lang="en-GB" dirty="0"/>
                    </a:p>
                  </a:txBody>
                  <a:tcPr/>
                </a:tc>
                <a:tc>
                  <a:txBody>
                    <a:bodyPr/>
                    <a:lstStyle/>
                    <a:p>
                      <a:r>
                        <a:rPr lang="en-US" dirty="0"/>
                        <a:t>0.1750</a:t>
                      </a:r>
                      <a:endParaRPr lang="en-GB" dirty="0"/>
                    </a:p>
                  </a:txBody>
                  <a:tcPr/>
                </a:tc>
                <a:extLst>
                  <a:ext uri="{0D108BD9-81ED-4DB2-BD59-A6C34878D82A}">
                    <a16:rowId xmlns:a16="http://schemas.microsoft.com/office/drawing/2014/main" val="3327088980"/>
                  </a:ext>
                </a:extLst>
              </a:tr>
            </a:tbl>
          </a:graphicData>
        </a:graphic>
      </p:graphicFrame>
    </p:spTree>
    <p:extLst>
      <p:ext uri="{BB962C8B-B14F-4D97-AF65-F5344CB8AC3E}">
        <p14:creationId xmlns:p14="http://schemas.microsoft.com/office/powerpoint/2010/main" val="1273223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16374</TotalTime>
  <Words>505</Words>
  <Application>Microsoft Office PowerPoint</Application>
  <PresentationFormat>Widescreen</PresentationFormat>
  <Paragraphs>89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Llama 1B parameters, return string</vt:lpstr>
      <vt:lpstr>Llama 1B parameters, return number</vt:lpstr>
      <vt:lpstr>Llama 3B parameters (Q4), return number</vt:lpstr>
      <vt:lpstr>Llama 3B parameters (Q8), return number</vt:lpstr>
      <vt:lpstr>Llama 8B parameters, return string</vt:lpstr>
      <vt:lpstr>Llama 8B parameters, return number</vt:lpstr>
      <vt:lpstr>Prompts</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Aristodemos Pnevmatikakis</dc:creator>
  <cp:lastModifiedBy>Aristodemos Pnevmatikakis</cp:lastModifiedBy>
  <cp:revision>7</cp:revision>
  <dcterms:created xsi:type="dcterms:W3CDTF">2024-11-01T07:21:38Z</dcterms:created>
  <dcterms:modified xsi:type="dcterms:W3CDTF">2024-12-30T10:27:40Z</dcterms:modified>
</cp:coreProperties>
</file>